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4"/>
  </p:notes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27" autoAdjust="0"/>
    <p:restoredTop sz="94660"/>
  </p:normalViewPr>
  <p:slideViewPr>
    <p:cSldViewPr snapToGrid="0">
      <p:cViewPr varScale="1">
        <p:scale>
          <a:sx n="82" d="100"/>
          <a:sy n="82" d="100"/>
        </p:scale>
        <p:origin x="792"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AD7E0A-3CE0-49EA-8B61-5488BDF121E7}"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8DC7FA-5458-4143-8DFA-76E1FF63E783}" type="slidenum">
              <a:rPr lang="en-US" smtClean="0"/>
              <a:t>‹#›</a:t>
            </a:fld>
            <a:endParaRPr lang="en-US"/>
          </a:p>
        </p:txBody>
      </p:sp>
    </p:spTree>
    <p:extLst>
      <p:ext uri="{BB962C8B-B14F-4D97-AF65-F5344CB8AC3E}">
        <p14:creationId xmlns:p14="http://schemas.microsoft.com/office/powerpoint/2010/main" val="1460217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4011221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801957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2212224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954103-841B-4194-8700-2BB2EA32A0D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258544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954103-841B-4194-8700-2BB2EA32A0DA}"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1167332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954103-841B-4194-8700-2BB2EA32A0DA}"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330152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954103-841B-4194-8700-2BB2EA32A0DA}"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210644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954103-841B-4194-8700-2BB2EA32A0D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3884616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954103-841B-4194-8700-2BB2EA32A0DA}"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2867482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280330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01836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1347414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7590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191483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13186570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954103-841B-4194-8700-2BB2EA32A0DA}"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0B9C5-0C22-4F81-8751-03D41C960897}" type="slidenum">
              <a:rPr lang="en-US" smtClean="0"/>
              <a:t>‹#›</a:t>
            </a:fld>
            <a:endParaRPr lang="en-US"/>
          </a:p>
        </p:txBody>
      </p:sp>
    </p:spTree>
    <p:extLst>
      <p:ext uri="{BB962C8B-B14F-4D97-AF65-F5344CB8AC3E}">
        <p14:creationId xmlns:p14="http://schemas.microsoft.com/office/powerpoint/2010/main" val="307890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4954103-841B-4194-8700-2BB2EA32A0DA}" type="datetimeFigureOut">
              <a:rPr lang="en-US" smtClean="0"/>
              <a:t>7/28/2026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50B9C5-0C22-4F81-8751-03D41C960897}" type="slidenum">
              <a:rPr lang="en-US" smtClean="0"/>
              <a:t>‹#›</a:t>
            </a:fld>
            <a:endParaRPr lang="en-US"/>
          </a:p>
        </p:txBody>
      </p:sp>
    </p:spTree>
    <p:extLst>
      <p:ext uri="{BB962C8B-B14F-4D97-AF65-F5344CB8AC3E}">
        <p14:creationId xmlns:p14="http://schemas.microsoft.com/office/powerpoint/2010/main" val="416603670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AC63-A833-918C-3AC5-95E2BCB24343}"/>
              </a:ext>
            </a:extLst>
          </p:cNvPr>
          <p:cNvSpPr>
            <a:spLocks noGrp="1"/>
          </p:cNvSpPr>
          <p:nvPr>
            <p:ph type="ctrTitle"/>
          </p:nvPr>
        </p:nvSpPr>
        <p:spPr>
          <a:xfrm>
            <a:off x="1507067" y="2404534"/>
            <a:ext cx="7766936" cy="1388534"/>
          </a:xfrm>
        </p:spPr>
        <p:txBody>
          <a:bodyPr/>
          <a:lstStyle/>
          <a:p>
            <a:pPr algn="l"/>
            <a:r>
              <a:rPr lang="en-US" sz="6000" b="1" dirty="0"/>
              <a:t>Ola Ride Analytics</a:t>
            </a:r>
          </a:p>
        </p:txBody>
      </p:sp>
      <p:sp>
        <p:nvSpPr>
          <p:cNvPr id="3" name="Subtitle 2">
            <a:extLst>
              <a:ext uri="{FF2B5EF4-FFF2-40B4-BE49-F238E27FC236}">
                <a16:creationId xmlns:a16="http://schemas.microsoft.com/office/drawing/2014/main" id="{2F3B23F9-5360-6D18-5A89-B7580D98CD78}"/>
              </a:ext>
            </a:extLst>
          </p:cNvPr>
          <p:cNvSpPr>
            <a:spLocks noGrp="1"/>
          </p:cNvSpPr>
          <p:nvPr>
            <p:ph type="subTitle" idx="1"/>
          </p:nvPr>
        </p:nvSpPr>
        <p:spPr>
          <a:xfrm>
            <a:off x="3712944" y="3922644"/>
            <a:ext cx="6987645" cy="1388534"/>
          </a:xfrm>
        </p:spPr>
        <p:txBody>
          <a:bodyPr/>
          <a:lstStyle/>
          <a:p>
            <a:r>
              <a:rPr lang="en-US" sz="2800" b="1" dirty="0">
                <a:solidFill>
                  <a:schemeClr val="bg2">
                    <a:lumMod val="50000"/>
                  </a:schemeClr>
                </a:solidFill>
              </a:rPr>
              <a:t>Data – Driven Performance Review : 100k + Records</a:t>
            </a:r>
            <a:endParaRPr lang="en-US" b="1" dirty="0">
              <a:solidFill>
                <a:schemeClr val="bg2">
                  <a:lumMod val="50000"/>
                </a:schemeClr>
              </a:solidFill>
            </a:endParaRPr>
          </a:p>
        </p:txBody>
      </p:sp>
      <p:sp>
        <p:nvSpPr>
          <p:cNvPr id="4" name="Rectangle 3">
            <a:extLst>
              <a:ext uri="{FF2B5EF4-FFF2-40B4-BE49-F238E27FC236}">
                <a16:creationId xmlns:a16="http://schemas.microsoft.com/office/drawing/2014/main" id="{7743274C-B46A-96F8-6903-D12DB318B8AB}"/>
              </a:ext>
            </a:extLst>
          </p:cNvPr>
          <p:cNvSpPr/>
          <p:nvPr/>
        </p:nvSpPr>
        <p:spPr>
          <a:xfrm>
            <a:off x="2074506" y="2274958"/>
            <a:ext cx="4391608" cy="419564"/>
          </a:xfrm>
          <a:prstGeom prst="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LOCATION: BENGALURU HUB</a:t>
            </a:r>
          </a:p>
        </p:txBody>
      </p:sp>
      <p:sp>
        <p:nvSpPr>
          <p:cNvPr id="5" name="Rectangle 4">
            <a:extLst>
              <a:ext uri="{FF2B5EF4-FFF2-40B4-BE49-F238E27FC236}">
                <a16:creationId xmlns:a16="http://schemas.microsoft.com/office/drawing/2014/main" id="{6DCCECFD-F468-47FB-6E6A-FF5D4E7E95D8}"/>
              </a:ext>
            </a:extLst>
          </p:cNvPr>
          <p:cNvSpPr/>
          <p:nvPr/>
        </p:nvSpPr>
        <p:spPr>
          <a:xfrm>
            <a:off x="7445203" y="5141167"/>
            <a:ext cx="3657600" cy="674871"/>
          </a:xfrm>
          <a:prstGeom prst="rect">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NAME: SAPNA</a:t>
            </a:r>
          </a:p>
        </p:txBody>
      </p:sp>
    </p:spTree>
    <p:extLst>
      <p:ext uri="{BB962C8B-B14F-4D97-AF65-F5344CB8AC3E}">
        <p14:creationId xmlns:p14="http://schemas.microsoft.com/office/powerpoint/2010/main" val="420461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696D4-FD07-834C-882F-4EC09BC4E5E5}"/>
              </a:ext>
            </a:extLst>
          </p:cNvPr>
          <p:cNvSpPr>
            <a:spLocks noGrp="1"/>
          </p:cNvSpPr>
          <p:nvPr>
            <p:ph type="title"/>
          </p:nvPr>
        </p:nvSpPr>
        <p:spPr>
          <a:xfrm>
            <a:off x="1162525" y="600270"/>
            <a:ext cx="9101148" cy="1320800"/>
          </a:xfrm>
        </p:spPr>
        <p:txBody>
          <a:bodyPr>
            <a:normAutofit/>
          </a:bodyPr>
          <a:lstStyle/>
          <a:p>
            <a:pPr algn="ctr"/>
            <a:r>
              <a:rPr lang="en-US" sz="4000" b="1" dirty="0"/>
              <a:t>Business Context: Bengaluru Market</a:t>
            </a:r>
          </a:p>
        </p:txBody>
      </p:sp>
      <p:sp>
        <p:nvSpPr>
          <p:cNvPr id="4" name="Rectangle: Rounded Corners 3">
            <a:extLst>
              <a:ext uri="{FF2B5EF4-FFF2-40B4-BE49-F238E27FC236}">
                <a16:creationId xmlns:a16="http://schemas.microsoft.com/office/drawing/2014/main" id="{A7B003F7-3105-C0B1-A3D5-B9B395C46069}"/>
              </a:ext>
            </a:extLst>
          </p:cNvPr>
          <p:cNvSpPr/>
          <p:nvPr/>
        </p:nvSpPr>
        <p:spPr>
          <a:xfrm>
            <a:off x="1036441" y="2313213"/>
            <a:ext cx="4879909" cy="3831772"/>
          </a:xfrm>
          <a:prstGeom prst="roundRect">
            <a:avLst/>
          </a:prstGeom>
          <a:solidFill>
            <a:schemeClr val="accent1">
              <a:lumMod val="20000"/>
              <a:lumOff val="80000"/>
            </a:schemeClr>
          </a:solidFill>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b="1" dirty="0"/>
              <a:t>Objective</a:t>
            </a:r>
          </a:p>
          <a:p>
            <a:endParaRPr lang="en-US" sz="2000" dirty="0">
              <a:solidFill>
                <a:schemeClr val="accent4">
                  <a:lumMod val="75000"/>
                </a:schemeClr>
              </a:solidFill>
            </a:endParaRPr>
          </a:p>
          <a:p>
            <a:r>
              <a:rPr lang="en-US" sz="2000" b="1" dirty="0">
                <a:solidFill>
                  <a:schemeClr val="accent4">
                    <a:lumMod val="75000"/>
                  </a:schemeClr>
                </a:solidFill>
              </a:rPr>
              <a:t>To analyze the efficiency of ride - sharing operations in Bengaluru, focusing on the relationship between cancellation, vehicle type and customer ratings.</a:t>
            </a:r>
          </a:p>
        </p:txBody>
      </p:sp>
      <p:sp>
        <p:nvSpPr>
          <p:cNvPr id="5" name="Rectangle: Rounded Corners 4">
            <a:extLst>
              <a:ext uri="{FF2B5EF4-FFF2-40B4-BE49-F238E27FC236}">
                <a16:creationId xmlns:a16="http://schemas.microsoft.com/office/drawing/2014/main" id="{A63D81A1-F981-2580-D849-F4D29630E583}"/>
              </a:ext>
            </a:extLst>
          </p:cNvPr>
          <p:cNvSpPr/>
          <p:nvPr/>
        </p:nvSpPr>
        <p:spPr>
          <a:xfrm>
            <a:off x="6455163" y="2313213"/>
            <a:ext cx="4879909" cy="3831772"/>
          </a:xfrm>
          <a:prstGeom prst="roundRect">
            <a:avLst/>
          </a:prstGeom>
          <a:solidFill>
            <a:schemeClr val="accent1">
              <a:lumMod val="20000"/>
              <a:lumOff val="80000"/>
            </a:schemeClr>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b="1" dirty="0">
                <a:solidFill>
                  <a:schemeClr val="tx1"/>
                </a:solidFill>
              </a:rPr>
              <a:t>Problem Statement</a:t>
            </a:r>
          </a:p>
          <a:p>
            <a:endParaRPr lang="en-US" sz="2000" b="1" dirty="0">
              <a:solidFill>
                <a:schemeClr val="accent4">
                  <a:lumMod val="75000"/>
                </a:schemeClr>
              </a:solidFill>
            </a:endParaRPr>
          </a:p>
          <a:p>
            <a:r>
              <a:rPr lang="en-US" sz="2000" b="1" dirty="0">
                <a:solidFill>
                  <a:schemeClr val="accent4">
                    <a:lumMod val="75000"/>
                  </a:schemeClr>
                </a:solidFill>
              </a:rPr>
              <a:t>Frequent ride cancellations by both customer and drivers are impacting platform reliability and revenue growth.</a:t>
            </a:r>
          </a:p>
        </p:txBody>
      </p:sp>
    </p:spTree>
    <p:extLst>
      <p:ext uri="{BB962C8B-B14F-4D97-AF65-F5344CB8AC3E}">
        <p14:creationId xmlns:p14="http://schemas.microsoft.com/office/powerpoint/2010/main" val="2858852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CE281-0068-9AC8-5369-9F1E57C6CD41}"/>
              </a:ext>
            </a:extLst>
          </p:cNvPr>
          <p:cNvSpPr>
            <a:spLocks noGrp="1"/>
          </p:cNvSpPr>
          <p:nvPr>
            <p:ph type="title"/>
          </p:nvPr>
        </p:nvSpPr>
        <p:spPr>
          <a:xfrm>
            <a:off x="1484310" y="301691"/>
            <a:ext cx="10018713" cy="1146893"/>
          </a:xfrm>
        </p:spPr>
        <p:txBody>
          <a:bodyPr>
            <a:normAutofit/>
          </a:bodyPr>
          <a:lstStyle/>
          <a:p>
            <a:pPr algn="ctr"/>
            <a:r>
              <a:rPr lang="en-US" sz="6000" b="1" dirty="0"/>
              <a:t>Stakeholders</a:t>
            </a:r>
          </a:p>
        </p:txBody>
      </p:sp>
      <p:sp>
        <p:nvSpPr>
          <p:cNvPr id="6" name="Rectangle 5">
            <a:extLst>
              <a:ext uri="{FF2B5EF4-FFF2-40B4-BE49-F238E27FC236}">
                <a16:creationId xmlns:a16="http://schemas.microsoft.com/office/drawing/2014/main" id="{9174791C-BB7F-6D5F-AA86-2B81E051522D}"/>
              </a:ext>
            </a:extLst>
          </p:cNvPr>
          <p:cNvSpPr/>
          <p:nvPr/>
        </p:nvSpPr>
        <p:spPr>
          <a:xfrm>
            <a:off x="585256" y="4016823"/>
            <a:ext cx="3480319" cy="1975759"/>
          </a:xfrm>
          <a:prstGeom prst="rect">
            <a:avLst/>
          </a:prstGeom>
          <a:solidFill>
            <a:schemeClr val="accent1">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t>Operation Team</a:t>
            </a:r>
          </a:p>
          <a:p>
            <a:pPr algn="ctr"/>
            <a:endParaRPr lang="en-US" b="1" dirty="0"/>
          </a:p>
          <a:p>
            <a:pPr algn="ctr"/>
            <a:r>
              <a:rPr lang="en-US" dirty="0"/>
              <a:t>Focus on TAT and cancellation reason</a:t>
            </a:r>
          </a:p>
        </p:txBody>
      </p:sp>
      <p:sp>
        <p:nvSpPr>
          <p:cNvPr id="7" name="Rectangle 6">
            <a:extLst>
              <a:ext uri="{FF2B5EF4-FFF2-40B4-BE49-F238E27FC236}">
                <a16:creationId xmlns:a16="http://schemas.microsoft.com/office/drawing/2014/main" id="{C529D18F-4BEF-FEC6-A3A8-DA1A8AF21145}"/>
              </a:ext>
            </a:extLst>
          </p:cNvPr>
          <p:cNvSpPr/>
          <p:nvPr/>
        </p:nvSpPr>
        <p:spPr>
          <a:xfrm>
            <a:off x="7820743" y="4016824"/>
            <a:ext cx="3480319" cy="1975759"/>
          </a:xfrm>
          <a:prstGeom prst="rect">
            <a:avLst/>
          </a:prstGeom>
          <a:solidFill>
            <a:schemeClr val="accent1">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t>Quality Team</a:t>
            </a:r>
          </a:p>
          <a:p>
            <a:pPr algn="ctr"/>
            <a:endParaRPr lang="en-US" dirty="0"/>
          </a:p>
          <a:p>
            <a:pPr algn="ctr"/>
            <a:r>
              <a:rPr lang="en-US" dirty="0"/>
              <a:t>Monitor Driver/Customer ratings</a:t>
            </a:r>
          </a:p>
        </p:txBody>
      </p:sp>
      <p:sp>
        <p:nvSpPr>
          <p:cNvPr id="8" name="Rectangle 7">
            <a:extLst>
              <a:ext uri="{FF2B5EF4-FFF2-40B4-BE49-F238E27FC236}">
                <a16:creationId xmlns:a16="http://schemas.microsoft.com/office/drawing/2014/main" id="{34094592-40FF-BABF-9391-CBA308345B8F}"/>
              </a:ext>
            </a:extLst>
          </p:cNvPr>
          <p:cNvSpPr/>
          <p:nvPr/>
        </p:nvSpPr>
        <p:spPr>
          <a:xfrm>
            <a:off x="4065575" y="1744824"/>
            <a:ext cx="3755168" cy="1975759"/>
          </a:xfrm>
          <a:prstGeom prst="rect">
            <a:avLst/>
          </a:prstGeom>
          <a:solidFill>
            <a:schemeClr val="accent1">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t>Finance Lead</a:t>
            </a:r>
          </a:p>
          <a:p>
            <a:pPr algn="ctr"/>
            <a:endParaRPr lang="en-US" sz="2000" b="1" dirty="0"/>
          </a:p>
          <a:p>
            <a:pPr algn="ctr"/>
            <a:r>
              <a:rPr lang="en-US" dirty="0"/>
              <a:t>Track “Total successful Booking volume”</a:t>
            </a:r>
            <a:endParaRPr lang="en-US" sz="1600" dirty="0"/>
          </a:p>
        </p:txBody>
      </p:sp>
    </p:spTree>
    <p:extLst>
      <p:ext uri="{BB962C8B-B14F-4D97-AF65-F5344CB8AC3E}">
        <p14:creationId xmlns:p14="http://schemas.microsoft.com/office/powerpoint/2010/main" val="132907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CD44-E82B-C4B1-9987-9F7989C74FAA}"/>
              </a:ext>
            </a:extLst>
          </p:cNvPr>
          <p:cNvSpPr>
            <a:spLocks noGrp="1"/>
          </p:cNvSpPr>
          <p:nvPr>
            <p:ph type="title"/>
          </p:nvPr>
        </p:nvSpPr>
        <p:spPr/>
        <p:txBody>
          <a:bodyPr>
            <a:normAutofit fontScale="90000"/>
          </a:bodyPr>
          <a:lstStyle/>
          <a:p>
            <a:pPr algn="ctr"/>
            <a:r>
              <a:rPr lang="en-US" sz="5400" b="1" dirty="0"/>
              <a:t>Technology Stack &amp; Purpose</a:t>
            </a:r>
          </a:p>
        </p:txBody>
      </p:sp>
      <p:sp>
        <p:nvSpPr>
          <p:cNvPr id="6" name="Rectangle 5">
            <a:extLst>
              <a:ext uri="{FF2B5EF4-FFF2-40B4-BE49-F238E27FC236}">
                <a16:creationId xmlns:a16="http://schemas.microsoft.com/office/drawing/2014/main" id="{D21E89E7-7547-0E2D-5B78-1B26D46C772A}"/>
              </a:ext>
            </a:extLst>
          </p:cNvPr>
          <p:cNvSpPr/>
          <p:nvPr/>
        </p:nvSpPr>
        <p:spPr>
          <a:xfrm>
            <a:off x="884898" y="2660727"/>
            <a:ext cx="3009136" cy="2834757"/>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Microsoft Excel</a:t>
            </a:r>
          </a:p>
          <a:p>
            <a:pPr algn="ctr"/>
            <a:endParaRPr lang="en-US" b="1"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DATA CLEANING &amp; INTITIAL EXPLORATION</a:t>
            </a:r>
          </a:p>
        </p:txBody>
      </p:sp>
      <p:pic>
        <p:nvPicPr>
          <p:cNvPr id="5" name="Picture 4">
            <a:extLst>
              <a:ext uri="{FF2B5EF4-FFF2-40B4-BE49-F238E27FC236}">
                <a16:creationId xmlns:a16="http://schemas.microsoft.com/office/drawing/2014/main" id="{81BBDCE5-B3B3-76FB-12DE-0FCF44DF5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5633" y="2768520"/>
            <a:ext cx="681762" cy="635158"/>
          </a:xfrm>
          <a:prstGeom prst="rect">
            <a:avLst/>
          </a:prstGeom>
        </p:spPr>
      </p:pic>
      <p:sp>
        <p:nvSpPr>
          <p:cNvPr id="7" name="Rectangle 6">
            <a:extLst>
              <a:ext uri="{FF2B5EF4-FFF2-40B4-BE49-F238E27FC236}">
                <a16:creationId xmlns:a16="http://schemas.microsoft.com/office/drawing/2014/main" id="{7F460E26-15B1-8795-13C9-EC7D263641E0}"/>
              </a:ext>
            </a:extLst>
          </p:cNvPr>
          <p:cNvSpPr/>
          <p:nvPr/>
        </p:nvSpPr>
        <p:spPr>
          <a:xfrm>
            <a:off x="4591432" y="2648725"/>
            <a:ext cx="3009136" cy="2834757"/>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dirty="0">
              <a:ln w="0"/>
              <a:solidFill>
                <a:schemeClr val="tx1"/>
              </a:solidFill>
              <a:effectLst>
                <a:outerShdw blurRad="38100" dist="19050" dir="2700000" algn="tl" rotWithShape="0">
                  <a:schemeClr val="dk1">
                    <a:alpha val="40000"/>
                  </a:schemeClr>
                </a:outerShdw>
              </a:effectLst>
            </a:endParaRPr>
          </a:p>
          <a:p>
            <a:pPr algn="ctr"/>
            <a:r>
              <a:rPr lang="en-US" b="1" dirty="0">
                <a:ln w="0"/>
                <a:solidFill>
                  <a:schemeClr val="tx1"/>
                </a:solidFill>
                <a:effectLst>
                  <a:outerShdw blurRad="38100" dist="19050" dir="2700000" algn="tl" rotWithShape="0">
                    <a:schemeClr val="dk1">
                      <a:alpha val="40000"/>
                    </a:schemeClr>
                  </a:outerShdw>
                </a:effectLst>
              </a:rPr>
              <a:t>Microsoft Power BI</a:t>
            </a:r>
          </a:p>
          <a:p>
            <a:pPr algn="ctr"/>
            <a:endParaRPr lang="en-US" b="1"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COMPLEX CALCULATION &amp; TREND VISUALIZATION &amp; DASHBOARDING</a:t>
            </a:r>
          </a:p>
          <a:p>
            <a:pPr algn="ctr"/>
            <a:r>
              <a:rPr lang="en-US" dirty="0">
                <a:ln w="0"/>
                <a:solidFill>
                  <a:schemeClr val="tx1"/>
                </a:solidFill>
                <a:effectLst>
                  <a:outerShdw blurRad="38100" dist="19050" dir="2700000" algn="tl" rotWithShape="0">
                    <a:schemeClr val="dk1">
                      <a:alpha val="40000"/>
                    </a:schemeClr>
                  </a:outerShdw>
                </a:effectLst>
              </a:rPr>
              <a:t> </a:t>
            </a:r>
          </a:p>
        </p:txBody>
      </p:sp>
      <p:sp>
        <p:nvSpPr>
          <p:cNvPr id="8" name="Rectangle 7">
            <a:extLst>
              <a:ext uri="{FF2B5EF4-FFF2-40B4-BE49-F238E27FC236}">
                <a16:creationId xmlns:a16="http://schemas.microsoft.com/office/drawing/2014/main" id="{29EDEBB2-00A6-68C3-07CB-A9282C9050D8}"/>
              </a:ext>
            </a:extLst>
          </p:cNvPr>
          <p:cNvSpPr/>
          <p:nvPr/>
        </p:nvSpPr>
        <p:spPr>
          <a:xfrm>
            <a:off x="8297966" y="2641516"/>
            <a:ext cx="3009136" cy="2834757"/>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SQL</a:t>
            </a:r>
          </a:p>
          <a:p>
            <a:pPr algn="ct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DATA WAREHOUSING &amp; KPI LOGIC EXTRACTION</a:t>
            </a:r>
          </a:p>
        </p:txBody>
      </p:sp>
      <p:pic>
        <p:nvPicPr>
          <p:cNvPr id="10" name="Picture 9">
            <a:extLst>
              <a:ext uri="{FF2B5EF4-FFF2-40B4-BE49-F238E27FC236}">
                <a16:creationId xmlns:a16="http://schemas.microsoft.com/office/drawing/2014/main" id="{1F54DA6E-6A6F-0525-2114-CB3363BD0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9895" y="2641516"/>
            <a:ext cx="762162" cy="762162"/>
          </a:xfrm>
          <a:prstGeom prst="rect">
            <a:avLst/>
          </a:prstGeom>
        </p:spPr>
      </p:pic>
      <p:pic>
        <p:nvPicPr>
          <p:cNvPr id="14" name="Picture 13">
            <a:extLst>
              <a:ext uri="{FF2B5EF4-FFF2-40B4-BE49-F238E27FC236}">
                <a16:creationId xmlns:a16="http://schemas.microsoft.com/office/drawing/2014/main" id="{A73F180B-93AA-C8F4-3302-1FB184221F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3951" y="2679750"/>
            <a:ext cx="812698" cy="812698"/>
          </a:xfrm>
          <a:prstGeom prst="rect">
            <a:avLst/>
          </a:prstGeom>
        </p:spPr>
      </p:pic>
    </p:spTree>
    <p:extLst>
      <p:ext uri="{BB962C8B-B14F-4D97-AF65-F5344CB8AC3E}">
        <p14:creationId xmlns:p14="http://schemas.microsoft.com/office/powerpoint/2010/main" val="1742421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8B7F-906D-CABA-A59F-D9F548A57014}"/>
              </a:ext>
            </a:extLst>
          </p:cNvPr>
          <p:cNvSpPr>
            <a:spLocks noGrp="1"/>
          </p:cNvSpPr>
          <p:nvPr>
            <p:ph type="title"/>
          </p:nvPr>
        </p:nvSpPr>
        <p:spPr>
          <a:xfrm>
            <a:off x="1605350" y="234188"/>
            <a:ext cx="10018713" cy="1009650"/>
          </a:xfrm>
        </p:spPr>
        <p:txBody>
          <a:bodyPr/>
          <a:lstStyle/>
          <a:p>
            <a:r>
              <a:rPr lang="en-US" b="1" dirty="0"/>
              <a:t>Data Dictionary (Key Feature)</a:t>
            </a:r>
          </a:p>
        </p:txBody>
      </p:sp>
      <p:sp>
        <p:nvSpPr>
          <p:cNvPr id="4" name="TextBox 3">
            <a:extLst>
              <a:ext uri="{FF2B5EF4-FFF2-40B4-BE49-F238E27FC236}">
                <a16:creationId xmlns:a16="http://schemas.microsoft.com/office/drawing/2014/main" id="{EE7FFAFF-B6C7-D517-70F1-687A8667FC06}"/>
              </a:ext>
            </a:extLst>
          </p:cNvPr>
          <p:cNvSpPr txBox="1"/>
          <p:nvPr/>
        </p:nvSpPr>
        <p:spPr>
          <a:xfrm>
            <a:off x="474499" y="1240831"/>
            <a:ext cx="11422222" cy="400110"/>
          </a:xfrm>
          <a:prstGeom prst="rect">
            <a:avLst/>
          </a:prstGeom>
          <a:solidFill>
            <a:schemeClr val="tx1"/>
          </a:solidFill>
        </p:spPr>
        <p:txBody>
          <a:bodyPr wrap="square" rtlCol="0">
            <a:spAutoFit/>
          </a:bodyPr>
          <a:lstStyle/>
          <a:p>
            <a:r>
              <a:rPr lang="en-US" sz="2000" b="1" dirty="0">
                <a:solidFill>
                  <a:schemeClr val="bg1"/>
                </a:solidFill>
              </a:rPr>
              <a:t>Field Name                                 Type                      Key Logic/Significance</a:t>
            </a:r>
            <a:endParaRPr lang="en-US" b="1" dirty="0">
              <a:solidFill>
                <a:schemeClr val="bg1"/>
              </a:solidFill>
            </a:endParaRPr>
          </a:p>
        </p:txBody>
      </p:sp>
      <p:sp>
        <p:nvSpPr>
          <p:cNvPr id="5" name="TextBox 4">
            <a:extLst>
              <a:ext uri="{FF2B5EF4-FFF2-40B4-BE49-F238E27FC236}">
                <a16:creationId xmlns:a16="http://schemas.microsoft.com/office/drawing/2014/main" id="{0DAB6CE3-DBDB-B730-BB36-271AFABE8030}"/>
              </a:ext>
            </a:extLst>
          </p:cNvPr>
          <p:cNvSpPr txBox="1"/>
          <p:nvPr/>
        </p:nvSpPr>
        <p:spPr>
          <a:xfrm>
            <a:off x="474498" y="1998420"/>
            <a:ext cx="11422224" cy="369332"/>
          </a:xfrm>
          <a:prstGeom prst="rect">
            <a:avLst/>
          </a:prstGeom>
          <a:noFill/>
          <a:ln>
            <a:solidFill>
              <a:schemeClr val="accent1">
                <a:lumMod val="20000"/>
                <a:lumOff val="80000"/>
              </a:schemeClr>
            </a:solidFill>
          </a:ln>
          <a:scene3d>
            <a:camera prst="orthographicFront"/>
            <a:lightRig rig="threePt" dir="t"/>
          </a:scene3d>
          <a:sp3d>
            <a:bevelT/>
          </a:sp3d>
        </p:spPr>
        <p:txBody>
          <a:bodyPr wrap="square" rtlCol="0">
            <a:spAutoFit/>
          </a:bodyPr>
          <a:lstStyle/>
          <a:p>
            <a:r>
              <a:rPr lang="en-US" b="1" dirty="0"/>
              <a:t>Booking_ID</a:t>
            </a:r>
            <a:r>
              <a:rPr lang="en-US" dirty="0"/>
              <a:t>                                     Primary Key             Unique identifier for the Bangaluru 100k set.</a:t>
            </a:r>
          </a:p>
        </p:txBody>
      </p:sp>
      <p:sp>
        <p:nvSpPr>
          <p:cNvPr id="7" name="TextBox 6">
            <a:extLst>
              <a:ext uri="{FF2B5EF4-FFF2-40B4-BE49-F238E27FC236}">
                <a16:creationId xmlns:a16="http://schemas.microsoft.com/office/drawing/2014/main" id="{62B8831E-7CF8-6853-B1C6-889084C1D8B1}"/>
              </a:ext>
            </a:extLst>
          </p:cNvPr>
          <p:cNvSpPr txBox="1"/>
          <p:nvPr/>
        </p:nvSpPr>
        <p:spPr>
          <a:xfrm>
            <a:off x="474498" y="2737084"/>
            <a:ext cx="11422222" cy="369332"/>
          </a:xfrm>
          <a:prstGeom prst="rect">
            <a:avLst/>
          </a:prstGeom>
          <a:noFill/>
          <a:ln>
            <a:solidFill>
              <a:schemeClr val="accent1">
                <a:lumMod val="20000"/>
                <a:lumOff val="80000"/>
              </a:schemeClr>
            </a:solidFill>
          </a:ln>
          <a:scene3d>
            <a:camera prst="orthographicFront"/>
            <a:lightRig rig="threePt" dir="t"/>
          </a:scene3d>
          <a:sp3d>
            <a:bevelT/>
          </a:sp3d>
        </p:spPr>
        <p:txBody>
          <a:bodyPr wrap="square" rtlCol="0">
            <a:spAutoFit/>
          </a:bodyPr>
          <a:lstStyle/>
          <a:p>
            <a:r>
              <a:rPr lang="en-US" b="1" dirty="0"/>
              <a:t>Vehicle_Type </a:t>
            </a:r>
            <a:r>
              <a:rPr lang="en-US" dirty="0"/>
              <a:t>                                Categorical               Auto, Mini, Prime Sedan, Prime SUV, Bike.</a:t>
            </a:r>
          </a:p>
        </p:txBody>
      </p:sp>
      <p:sp>
        <p:nvSpPr>
          <p:cNvPr id="8" name="TextBox 7">
            <a:extLst>
              <a:ext uri="{FF2B5EF4-FFF2-40B4-BE49-F238E27FC236}">
                <a16:creationId xmlns:a16="http://schemas.microsoft.com/office/drawing/2014/main" id="{9EF2408B-103A-4521-86E6-EC732F70D723}"/>
              </a:ext>
            </a:extLst>
          </p:cNvPr>
          <p:cNvSpPr txBox="1"/>
          <p:nvPr/>
        </p:nvSpPr>
        <p:spPr>
          <a:xfrm>
            <a:off x="474498" y="3421048"/>
            <a:ext cx="11422222" cy="369332"/>
          </a:xfrm>
          <a:prstGeom prst="rect">
            <a:avLst/>
          </a:prstGeom>
          <a:noFill/>
          <a:ln>
            <a:solidFill>
              <a:schemeClr val="accent1">
                <a:lumMod val="20000"/>
                <a:lumOff val="80000"/>
              </a:schemeClr>
            </a:solidFill>
          </a:ln>
          <a:scene3d>
            <a:camera prst="orthographicFront"/>
            <a:lightRig rig="threePt" dir="t"/>
          </a:scene3d>
          <a:sp3d>
            <a:bevelT/>
          </a:sp3d>
        </p:spPr>
        <p:txBody>
          <a:bodyPr wrap="square" rtlCol="0">
            <a:spAutoFit/>
          </a:bodyPr>
          <a:lstStyle/>
          <a:p>
            <a:r>
              <a:rPr lang="en-US" b="1" dirty="0"/>
              <a:t>Cancellation_Reason </a:t>
            </a:r>
            <a:r>
              <a:rPr lang="en-US" dirty="0"/>
              <a:t>                    Categorical               Identify friction points for Bengaluru Driver/riders.</a:t>
            </a:r>
          </a:p>
        </p:txBody>
      </p:sp>
      <p:sp>
        <p:nvSpPr>
          <p:cNvPr id="9" name="TextBox 8">
            <a:extLst>
              <a:ext uri="{FF2B5EF4-FFF2-40B4-BE49-F238E27FC236}">
                <a16:creationId xmlns:a16="http://schemas.microsoft.com/office/drawing/2014/main" id="{614F8948-C3EF-A521-2909-072546B4221C}"/>
              </a:ext>
            </a:extLst>
          </p:cNvPr>
          <p:cNvSpPr txBox="1"/>
          <p:nvPr/>
        </p:nvSpPr>
        <p:spPr>
          <a:xfrm>
            <a:off x="474498" y="4147859"/>
            <a:ext cx="11422222" cy="369332"/>
          </a:xfrm>
          <a:prstGeom prst="rect">
            <a:avLst/>
          </a:prstGeom>
          <a:noFill/>
          <a:ln>
            <a:solidFill>
              <a:schemeClr val="accent1">
                <a:lumMod val="20000"/>
                <a:lumOff val="80000"/>
              </a:schemeClr>
            </a:solidFill>
          </a:ln>
          <a:scene3d>
            <a:camera prst="orthographicFront"/>
            <a:lightRig rig="threePt" dir="t"/>
          </a:scene3d>
          <a:sp3d>
            <a:bevelT/>
          </a:sp3d>
        </p:spPr>
        <p:txBody>
          <a:bodyPr wrap="square" rtlCol="0">
            <a:spAutoFit/>
          </a:bodyPr>
          <a:lstStyle/>
          <a:p>
            <a:r>
              <a:rPr lang="en-US" b="1" dirty="0"/>
              <a:t>Payment_Method                          </a:t>
            </a:r>
            <a:r>
              <a:rPr lang="en-US" dirty="0"/>
              <a:t>Categorical                Analyzing digital vs. cash trend in the tech hub.</a:t>
            </a:r>
          </a:p>
        </p:txBody>
      </p:sp>
      <p:pic>
        <p:nvPicPr>
          <p:cNvPr id="11" name="Picture 10">
            <a:extLst>
              <a:ext uri="{FF2B5EF4-FFF2-40B4-BE49-F238E27FC236}">
                <a16:creationId xmlns:a16="http://schemas.microsoft.com/office/drawing/2014/main" id="{EB2F84C7-1B5C-A368-081B-7B5826BC8232}"/>
              </a:ext>
            </a:extLst>
          </p:cNvPr>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74498" y="3947631"/>
            <a:ext cx="3295650" cy="3285765"/>
          </a:xfrm>
          <a:prstGeom prst="rect">
            <a:avLst/>
          </a:prstGeom>
        </p:spPr>
      </p:pic>
      <p:sp>
        <p:nvSpPr>
          <p:cNvPr id="12" name="TextBox 11">
            <a:extLst>
              <a:ext uri="{FF2B5EF4-FFF2-40B4-BE49-F238E27FC236}">
                <a16:creationId xmlns:a16="http://schemas.microsoft.com/office/drawing/2014/main" id="{B4803CA9-1651-CDA0-53EF-D721A92A60C9}"/>
              </a:ext>
            </a:extLst>
          </p:cNvPr>
          <p:cNvSpPr txBox="1"/>
          <p:nvPr/>
        </p:nvSpPr>
        <p:spPr>
          <a:xfrm>
            <a:off x="4475871" y="4862818"/>
            <a:ext cx="6715125" cy="1477328"/>
          </a:xfrm>
          <a:prstGeom prst="rect">
            <a:avLst/>
          </a:prstGeom>
          <a:noFill/>
          <a:ln>
            <a:solidFill>
              <a:schemeClr val="bg1">
                <a:lumMod val="50000"/>
              </a:schemeClr>
            </a:solidFill>
          </a:ln>
        </p:spPr>
        <p:txBody>
          <a:bodyPr wrap="square" rtlCol="0">
            <a:spAutoFit/>
          </a:bodyPr>
          <a:lstStyle/>
          <a:p>
            <a:r>
              <a:rPr lang="en-US" b="1" dirty="0"/>
              <a:t>Total Rows: 103025</a:t>
            </a:r>
          </a:p>
          <a:p>
            <a:endParaRPr lang="en-US" b="1" dirty="0"/>
          </a:p>
          <a:p>
            <a:r>
              <a:rPr lang="en-US" b="1" dirty="0"/>
              <a:t>Total Feature : 19 columns</a:t>
            </a:r>
          </a:p>
          <a:p>
            <a:endParaRPr lang="en-US" b="1" dirty="0"/>
          </a:p>
          <a:p>
            <a:r>
              <a:rPr lang="en-US" b="1" dirty="0"/>
              <a:t>Focus Area: Intra – city (Bengaluru Only)</a:t>
            </a:r>
          </a:p>
        </p:txBody>
      </p:sp>
    </p:spTree>
    <p:extLst>
      <p:ext uri="{BB962C8B-B14F-4D97-AF65-F5344CB8AC3E}">
        <p14:creationId xmlns:p14="http://schemas.microsoft.com/office/powerpoint/2010/main" val="2778764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6F325-F97F-94AA-E498-D9F654EE7A31}"/>
              </a:ext>
            </a:extLst>
          </p:cNvPr>
          <p:cNvSpPr>
            <a:spLocks noGrp="1"/>
          </p:cNvSpPr>
          <p:nvPr>
            <p:ph type="title"/>
          </p:nvPr>
        </p:nvSpPr>
        <p:spPr>
          <a:xfrm>
            <a:off x="1484311" y="685800"/>
            <a:ext cx="10018713" cy="1866900"/>
          </a:xfrm>
        </p:spPr>
        <p:txBody>
          <a:bodyPr>
            <a:normAutofit/>
          </a:bodyPr>
          <a:lstStyle/>
          <a:p>
            <a:r>
              <a:rPr lang="en-US" sz="4400" b="1" dirty="0"/>
              <a:t>Data Quality Check</a:t>
            </a:r>
          </a:p>
        </p:txBody>
      </p:sp>
      <p:sp>
        <p:nvSpPr>
          <p:cNvPr id="3" name="Content Placeholder 2">
            <a:extLst>
              <a:ext uri="{FF2B5EF4-FFF2-40B4-BE49-F238E27FC236}">
                <a16:creationId xmlns:a16="http://schemas.microsoft.com/office/drawing/2014/main" id="{40B48B44-D5A5-938B-9178-34CE02346690}"/>
              </a:ext>
            </a:extLst>
          </p:cNvPr>
          <p:cNvSpPr>
            <a:spLocks noGrp="1"/>
          </p:cNvSpPr>
          <p:nvPr>
            <p:ph idx="1"/>
          </p:nvPr>
        </p:nvSpPr>
        <p:spPr>
          <a:xfrm>
            <a:off x="789301" y="2552700"/>
            <a:ext cx="8596668" cy="3880773"/>
          </a:xfrm>
        </p:spPr>
        <p:txBody>
          <a:bodyPr>
            <a:normAutofit/>
          </a:bodyPr>
          <a:lstStyle/>
          <a:p>
            <a:pPr marL="0" indent="0">
              <a:buNone/>
            </a:pPr>
            <a:endParaRPr lang="en-US" sz="2000" b="1" dirty="0"/>
          </a:p>
          <a:p>
            <a:r>
              <a:rPr lang="en-US" sz="2000" b="1" dirty="0"/>
              <a:t>Inconsistent Reasons:</a:t>
            </a:r>
            <a:r>
              <a:rPr lang="en-US" sz="2000" dirty="0"/>
              <a:t> Blank cancellation reasons for successful rides. Cancellation-related columns are being used even for non-cancelled rides.</a:t>
            </a:r>
          </a:p>
          <a:p>
            <a:r>
              <a:rPr lang="en-US" sz="2000" b="1" dirty="0"/>
              <a:t>Outliers:</a:t>
            </a:r>
            <a:r>
              <a:rPr lang="en-US" sz="2000" dirty="0"/>
              <a:t> Ride distance listed zero(km) for non – cancelled rides.</a:t>
            </a:r>
          </a:p>
          <a:p>
            <a:r>
              <a:rPr lang="en-US" sz="2000" b="1" dirty="0"/>
              <a:t>Rating Nulls:</a:t>
            </a:r>
            <a:r>
              <a:rPr lang="en-US" sz="2000" dirty="0"/>
              <a:t> Many rides had missing ratings. </a:t>
            </a:r>
          </a:p>
          <a:p>
            <a:endParaRPr lang="en-US" sz="2000" dirty="0"/>
          </a:p>
        </p:txBody>
      </p:sp>
      <p:sp>
        <p:nvSpPr>
          <p:cNvPr id="5" name="TextBox 4">
            <a:extLst>
              <a:ext uri="{FF2B5EF4-FFF2-40B4-BE49-F238E27FC236}">
                <a16:creationId xmlns:a16="http://schemas.microsoft.com/office/drawing/2014/main" id="{DEAAA7EB-ADE1-6D8D-6335-18CC8DA81EB4}"/>
              </a:ext>
            </a:extLst>
          </p:cNvPr>
          <p:cNvSpPr txBox="1"/>
          <p:nvPr/>
        </p:nvSpPr>
        <p:spPr>
          <a:xfrm>
            <a:off x="1484311" y="1528664"/>
            <a:ext cx="9486900" cy="523220"/>
          </a:xfrm>
          <a:prstGeom prst="rect">
            <a:avLst/>
          </a:prstGeom>
          <a:noFill/>
        </p:spPr>
        <p:txBody>
          <a:bodyPr wrap="square" rtlCol="0">
            <a:spAutoFit/>
          </a:bodyPr>
          <a:lstStyle/>
          <a:p>
            <a:r>
              <a:rPr lang="en-US" sz="2800" b="1" dirty="0"/>
              <a:t>Discrepancies Found</a:t>
            </a:r>
            <a:endParaRPr lang="en-US" b="1" dirty="0"/>
          </a:p>
        </p:txBody>
      </p:sp>
    </p:spTree>
    <p:extLst>
      <p:ext uri="{BB962C8B-B14F-4D97-AF65-F5344CB8AC3E}">
        <p14:creationId xmlns:p14="http://schemas.microsoft.com/office/powerpoint/2010/main" val="4035382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D125E-0353-CF51-51F9-4E3E331BCDBB}"/>
              </a:ext>
            </a:extLst>
          </p:cNvPr>
          <p:cNvSpPr>
            <a:spLocks noGrp="1"/>
          </p:cNvSpPr>
          <p:nvPr>
            <p:ph type="title"/>
          </p:nvPr>
        </p:nvSpPr>
        <p:spPr/>
        <p:txBody>
          <a:bodyPr>
            <a:normAutofit/>
          </a:bodyPr>
          <a:lstStyle/>
          <a:p>
            <a:pPr algn="ctr"/>
            <a:r>
              <a:rPr lang="en-US" sz="5400" b="1" dirty="0"/>
              <a:t>Preparation Steps</a:t>
            </a:r>
            <a:endParaRPr lang="en-US" sz="4400" b="1" dirty="0"/>
          </a:p>
        </p:txBody>
      </p:sp>
      <p:sp>
        <p:nvSpPr>
          <p:cNvPr id="3" name="Content Placeholder 2">
            <a:extLst>
              <a:ext uri="{FF2B5EF4-FFF2-40B4-BE49-F238E27FC236}">
                <a16:creationId xmlns:a16="http://schemas.microsoft.com/office/drawing/2014/main" id="{514C87AC-A395-58EB-59A0-80BF8E5B5B27}"/>
              </a:ext>
            </a:extLst>
          </p:cNvPr>
          <p:cNvSpPr>
            <a:spLocks noGrp="1"/>
          </p:cNvSpPr>
          <p:nvPr>
            <p:ph idx="1"/>
          </p:nvPr>
        </p:nvSpPr>
        <p:spPr/>
        <p:txBody>
          <a:bodyPr>
            <a:normAutofit/>
          </a:bodyPr>
          <a:lstStyle/>
          <a:p>
            <a:r>
              <a:rPr lang="en-US" sz="2000" b="1" dirty="0"/>
              <a:t>Normalization:</a:t>
            </a:r>
            <a:r>
              <a:rPr lang="en-US" sz="2000" dirty="0"/>
              <a:t> Ensured Booking_value was always positive.</a:t>
            </a:r>
          </a:p>
          <a:p>
            <a:r>
              <a:rPr lang="en-US" sz="2000" b="1" dirty="0"/>
              <a:t>Date Slicing:</a:t>
            </a:r>
            <a:r>
              <a:rPr lang="en-US" sz="2000" dirty="0"/>
              <a:t> Separated Ride_date into ‘Day of week’ to find Bengaluru’s weekday Vs. weekend demand.</a:t>
            </a:r>
          </a:p>
          <a:p>
            <a:r>
              <a:rPr lang="en-US" sz="2000" b="1" dirty="0"/>
              <a:t>Data Type Cast:</a:t>
            </a:r>
            <a:r>
              <a:rPr lang="en-US" sz="2000" dirty="0"/>
              <a:t> Converted string to decimal for distances and values in SQL. </a:t>
            </a:r>
          </a:p>
        </p:txBody>
      </p:sp>
    </p:spTree>
    <p:extLst>
      <p:ext uri="{BB962C8B-B14F-4D97-AF65-F5344CB8AC3E}">
        <p14:creationId xmlns:p14="http://schemas.microsoft.com/office/powerpoint/2010/main" val="2517001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0ED5-898A-FAA6-1203-48BD463DE9B4}"/>
              </a:ext>
            </a:extLst>
          </p:cNvPr>
          <p:cNvSpPr>
            <a:spLocks noGrp="1"/>
          </p:cNvSpPr>
          <p:nvPr>
            <p:ph type="title"/>
          </p:nvPr>
        </p:nvSpPr>
        <p:spPr>
          <a:xfrm>
            <a:off x="1503410" y="435430"/>
            <a:ext cx="10018713" cy="1752599"/>
          </a:xfrm>
        </p:spPr>
        <p:txBody>
          <a:bodyPr>
            <a:normAutofit/>
          </a:bodyPr>
          <a:lstStyle/>
          <a:p>
            <a:r>
              <a:rPr lang="en-US" sz="4400" b="1" dirty="0"/>
              <a:t>Data Model (Flat File Structure)</a:t>
            </a:r>
          </a:p>
        </p:txBody>
      </p:sp>
      <p:sp>
        <p:nvSpPr>
          <p:cNvPr id="5" name="Rectangle: Rounded Corners 4">
            <a:extLst>
              <a:ext uri="{FF2B5EF4-FFF2-40B4-BE49-F238E27FC236}">
                <a16:creationId xmlns:a16="http://schemas.microsoft.com/office/drawing/2014/main" id="{40F5BAD0-B9FD-94E3-FD60-8C25C8C2E9B7}"/>
              </a:ext>
            </a:extLst>
          </p:cNvPr>
          <p:cNvSpPr/>
          <p:nvPr/>
        </p:nvSpPr>
        <p:spPr>
          <a:xfrm>
            <a:off x="1263707" y="2062066"/>
            <a:ext cx="9106677" cy="3988836"/>
          </a:xfrm>
          <a:prstGeom prst="roundRect">
            <a:avLst/>
          </a:prstGeom>
          <a:solidFill>
            <a:schemeClr val="tx2">
              <a:lumMod val="10000"/>
              <a:lumOff val="90000"/>
            </a:schemeClr>
          </a:solidFill>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ACDF3F0C-FCFF-200C-C0E0-B37704FEDFE4}"/>
              </a:ext>
            </a:extLst>
          </p:cNvPr>
          <p:cNvSpPr txBox="1"/>
          <p:nvPr/>
        </p:nvSpPr>
        <p:spPr>
          <a:xfrm>
            <a:off x="2052734" y="2507196"/>
            <a:ext cx="6466115" cy="400110"/>
          </a:xfrm>
          <a:prstGeom prst="rect">
            <a:avLst/>
          </a:prstGeom>
          <a:noFill/>
        </p:spPr>
        <p:txBody>
          <a:bodyPr wrap="square" rtlCol="0">
            <a:spAutoFit/>
          </a:bodyPr>
          <a:lstStyle/>
          <a:p>
            <a:pPr algn="ctr"/>
            <a:r>
              <a:rPr lang="en-US" sz="2000" b="1" dirty="0"/>
              <a:t>Primary Key: Booking_ID</a:t>
            </a:r>
            <a:endParaRPr lang="en-US" b="1" dirty="0"/>
          </a:p>
        </p:txBody>
      </p:sp>
      <p:sp>
        <p:nvSpPr>
          <p:cNvPr id="7" name="TextBox 6">
            <a:extLst>
              <a:ext uri="{FF2B5EF4-FFF2-40B4-BE49-F238E27FC236}">
                <a16:creationId xmlns:a16="http://schemas.microsoft.com/office/drawing/2014/main" id="{94ABF9D9-0814-F113-12B6-8176F7DBE27A}"/>
              </a:ext>
            </a:extLst>
          </p:cNvPr>
          <p:cNvSpPr txBox="1"/>
          <p:nvPr/>
        </p:nvSpPr>
        <p:spPr>
          <a:xfrm>
            <a:off x="1754155" y="3343917"/>
            <a:ext cx="7529804" cy="830997"/>
          </a:xfrm>
          <a:prstGeom prst="rect">
            <a:avLst/>
          </a:prstGeom>
          <a:noFill/>
        </p:spPr>
        <p:txBody>
          <a:bodyPr wrap="square" rtlCol="0">
            <a:spAutoFit/>
          </a:bodyPr>
          <a:lstStyle/>
          <a:p>
            <a:pPr algn="ctr"/>
            <a:r>
              <a:rPr lang="en-US" sz="2400" b="1" dirty="0"/>
              <a:t>Main Table: OLA_BANGALURU_DATA</a:t>
            </a:r>
          </a:p>
          <a:p>
            <a:pPr algn="ctr"/>
            <a:r>
              <a:rPr lang="en-US" sz="2400" b="1" dirty="0"/>
              <a:t> </a:t>
            </a:r>
            <a:r>
              <a:rPr lang="en-US" sz="2000" b="1" dirty="0">
                <a:latin typeface="Candara" panose="020E0502030303020204" pitchFamily="34" charset="0"/>
              </a:rPr>
              <a:t>103025</a:t>
            </a:r>
            <a:r>
              <a:rPr lang="en-US" sz="2000" dirty="0"/>
              <a:t> Rows x </a:t>
            </a:r>
            <a:r>
              <a:rPr lang="en-US" sz="2000" b="1" dirty="0">
                <a:latin typeface="Candara" panose="020E0502030303020204" pitchFamily="34" charset="0"/>
              </a:rPr>
              <a:t>19</a:t>
            </a:r>
            <a:r>
              <a:rPr lang="en-US" sz="2000" dirty="0"/>
              <a:t> columns</a:t>
            </a:r>
          </a:p>
        </p:txBody>
      </p:sp>
      <p:sp>
        <p:nvSpPr>
          <p:cNvPr id="8" name="TextBox 7">
            <a:extLst>
              <a:ext uri="{FF2B5EF4-FFF2-40B4-BE49-F238E27FC236}">
                <a16:creationId xmlns:a16="http://schemas.microsoft.com/office/drawing/2014/main" id="{27F7B86E-FB99-E148-5E5F-368A334AF0B7}"/>
              </a:ext>
            </a:extLst>
          </p:cNvPr>
          <p:cNvSpPr txBox="1"/>
          <p:nvPr/>
        </p:nvSpPr>
        <p:spPr>
          <a:xfrm>
            <a:off x="1821616" y="4395399"/>
            <a:ext cx="8080310" cy="1287981"/>
          </a:xfrm>
          <a:prstGeom prst="rect">
            <a:avLst/>
          </a:prstGeom>
          <a:noFill/>
        </p:spPr>
        <p:txBody>
          <a:bodyPr wrap="square" rtlCol="0">
            <a:spAutoFit/>
          </a:bodyPr>
          <a:lstStyle/>
          <a:p>
            <a:pPr>
              <a:lnSpc>
                <a:spcPct val="150000"/>
              </a:lnSpc>
            </a:pPr>
            <a:r>
              <a:rPr lang="en-US" b="1" dirty="0"/>
              <a:t>Relationship:</a:t>
            </a:r>
            <a:r>
              <a:rPr lang="en-US" dirty="0"/>
              <a:t>  Since this is a single table, internal **self join** were used in SQL for time gap analysis, and **DAX Measures** and DAX measures were created for analysis and KPI calculations.</a:t>
            </a:r>
          </a:p>
        </p:txBody>
      </p:sp>
    </p:spTree>
    <p:extLst>
      <p:ext uri="{BB962C8B-B14F-4D97-AF65-F5344CB8AC3E}">
        <p14:creationId xmlns:p14="http://schemas.microsoft.com/office/powerpoint/2010/main" val="28899976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3FA8-A04A-B9E1-0027-D860E2121057}"/>
              </a:ext>
            </a:extLst>
          </p:cNvPr>
          <p:cNvSpPr>
            <a:spLocks noGrp="1"/>
          </p:cNvSpPr>
          <p:nvPr>
            <p:ph type="title"/>
          </p:nvPr>
        </p:nvSpPr>
        <p:spPr>
          <a:xfrm>
            <a:off x="1549625" y="128297"/>
            <a:ext cx="10018713" cy="774440"/>
          </a:xfrm>
        </p:spPr>
        <p:txBody>
          <a:bodyPr>
            <a:normAutofit/>
          </a:bodyPr>
          <a:lstStyle/>
          <a:p>
            <a:pPr algn="ctr"/>
            <a:r>
              <a:rPr lang="en-US" sz="4000" b="1" dirty="0"/>
              <a:t>Descriptive Analysis – Key KPIs</a:t>
            </a:r>
          </a:p>
        </p:txBody>
      </p:sp>
      <p:sp>
        <p:nvSpPr>
          <p:cNvPr id="15" name="Rectangle 14">
            <a:extLst>
              <a:ext uri="{FF2B5EF4-FFF2-40B4-BE49-F238E27FC236}">
                <a16:creationId xmlns:a16="http://schemas.microsoft.com/office/drawing/2014/main" id="{1A34F2AB-8751-0ACC-36C1-4371F37148AC}"/>
              </a:ext>
            </a:extLst>
          </p:cNvPr>
          <p:cNvSpPr/>
          <p:nvPr/>
        </p:nvSpPr>
        <p:spPr>
          <a:xfrm>
            <a:off x="2052735" y="2443065"/>
            <a:ext cx="2052734" cy="1156996"/>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Total Bookings</a:t>
            </a:r>
          </a:p>
          <a:p>
            <a:pPr algn="ctr"/>
            <a:r>
              <a:rPr lang="en-US" b="1" dirty="0">
                <a:solidFill>
                  <a:schemeClr val="accent2">
                    <a:lumMod val="50000"/>
                  </a:schemeClr>
                </a:solidFill>
                <a:latin typeface="Candara" panose="020E0502030303020204" pitchFamily="34" charset="0"/>
              </a:rPr>
              <a:t>10,3024</a:t>
            </a:r>
          </a:p>
        </p:txBody>
      </p:sp>
      <p:sp>
        <p:nvSpPr>
          <p:cNvPr id="16" name="Rectangle 15">
            <a:extLst>
              <a:ext uri="{FF2B5EF4-FFF2-40B4-BE49-F238E27FC236}">
                <a16:creationId xmlns:a16="http://schemas.microsoft.com/office/drawing/2014/main" id="{83139E8B-74D7-AC8D-8C3E-332B92C9D4DD}"/>
              </a:ext>
            </a:extLst>
          </p:cNvPr>
          <p:cNvSpPr/>
          <p:nvPr/>
        </p:nvSpPr>
        <p:spPr>
          <a:xfrm>
            <a:off x="2052735" y="3884645"/>
            <a:ext cx="2052734" cy="1156996"/>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rPr>
              <a:t>Successful Bookings</a:t>
            </a:r>
          </a:p>
          <a:p>
            <a:pPr algn="ctr"/>
            <a:r>
              <a:rPr lang="en-US" b="1" dirty="0">
                <a:solidFill>
                  <a:schemeClr val="accent2">
                    <a:lumMod val="50000"/>
                  </a:schemeClr>
                </a:solidFill>
                <a:latin typeface="Candara" panose="020E0502030303020204" pitchFamily="34" charset="0"/>
              </a:rPr>
              <a:t>63,967</a:t>
            </a:r>
          </a:p>
        </p:txBody>
      </p:sp>
      <p:sp>
        <p:nvSpPr>
          <p:cNvPr id="17" name="Rectangle 16">
            <a:extLst>
              <a:ext uri="{FF2B5EF4-FFF2-40B4-BE49-F238E27FC236}">
                <a16:creationId xmlns:a16="http://schemas.microsoft.com/office/drawing/2014/main" id="{B2A39098-75EA-BA9C-59FC-CD9ABFDC70AF}"/>
              </a:ext>
            </a:extLst>
          </p:cNvPr>
          <p:cNvSpPr/>
          <p:nvPr/>
        </p:nvSpPr>
        <p:spPr>
          <a:xfrm>
            <a:off x="2052735" y="5326225"/>
            <a:ext cx="2052734" cy="1156996"/>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t>Cancelled Bookings</a:t>
            </a:r>
          </a:p>
          <a:p>
            <a:pPr algn="ctr"/>
            <a:r>
              <a:rPr lang="en-US" b="1" dirty="0">
                <a:solidFill>
                  <a:schemeClr val="accent2">
                    <a:lumMod val="50000"/>
                  </a:schemeClr>
                </a:solidFill>
                <a:latin typeface="Candara" panose="020E0502030303020204" pitchFamily="34" charset="0"/>
              </a:rPr>
              <a:t>28,933</a:t>
            </a:r>
            <a:endParaRPr lang="en-US" sz="1600" b="1" dirty="0">
              <a:solidFill>
                <a:schemeClr val="accent2">
                  <a:lumMod val="50000"/>
                </a:schemeClr>
              </a:solidFill>
              <a:latin typeface="Candara" panose="020E0502030303020204" pitchFamily="34" charset="0"/>
            </a:endParaRPr>
          </a:p>
        </p:txBody>
      </p:sp>
      <p:sp>
        <p:nvSpPr>
          <p:cNvPr id="8" name="Rectangle: Rounded Corners 7">
            <a:extLst>
              <a:ext uri="{FF2B5EF4-FFF2-40B4-BE49-F238E27FC236}">
                <a16:creationId xmlns:a16="http://schemas.microsoft.com/office/drawing/2014/main" id="{1E60E4B2-FA4B-730D-480A-6856DF60EFC4}"/>
              </a:ext>
            </a:extLst>
          </p:cNvPr>
          <p:cNvSpPr/>
          <p:nvPr/>
        </p:nvSpPr>
        <p:spPr>
          <a:xfrm>
            <a:off x="1549625" y="1220757"/>
            <a:ext cx="10402889" cy="961051"/>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a:t>This slide presents the key operational KPIs of the ride-booking platform to understand booking volume, booking success, cancellations, and revenue performance.</a:t>
            </a:r>
          </a:p>
        </p:txBody>
      </p:sp>
      <p:sp>
        <p:nvSpPr>
          <p:cNvPr id="9" name="Rectangle: Rounded Corners 8">
            <a:extLst>
              <a:ext uri="{FF2B5EF4-FFF2-40B4-BE49-F238E27FC236}">
                <a16:creationId xmlns:a16="http://schemas.microsoft.com/office/drawing/2014/main" id="{8C7EDBA2-A4E5-B4F9-4247-9E49ED9DAEF0}"/>
              </a:ext>
            </a:extLst>
          </p:cNvPr>
          <p:cNvSpPr/>
          <p:nvPr/>
        </p:nvSpPr>
        <p:spPr>
          <a:xfrm>
            <a:off x="4724398" y="2443065"/>
            <a:ext cx="6593633" cy="1180323"/>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The platform recorded 103,024 total bookings, which represents the overall customer demand.</a:t>
            </a:r>
            <a:endParaRPr lang="en-US" b="1" i="1" dirty="0"/>
          </a:p>
        </p:txBody>
      </p:sp>
      <p:sp>
        <p:nvSpPr>
          <p:cNvPr id="10" name="Rectangle: Rounded Corners 9">
            <a:extLst>
              <a:ext uri="{FF2B5EF4-FFF2-40B4-BE49-F238E27FC236}">
                <a16:creationId xmlns:a16="http://schemas.microsoft.com/office/drawing/2014/main" id="{C31A5340-01C7-5FB4-C46F-A10764D9E657}"/>
              </a:ext>
            </a:extLst>
          </p:cNvPr>
          <p:cNvSpPr/>
          <p:nvPr/>
        </p:nvSpPr>
        <p:spPr>
          <a:xfrm>
            <a:off x="4724398" y="3884645"/>
            <a:ext cx="6593633" cy="1180323"/>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Out of total bookings, 63,967 rides were successfully completed.</a:t>
            </a:r>
          </a:p>
          <a:p>
            <a:pPr algn="ctr"/>
            <a:r>
              <a:rPr lang="en-US" dirty="0"/>
              <a:t>This indicates that a significant portion of customer requests were fulfilled successfully.</a:t>
            </a:r>
            <a:endParaRPr lang="en-US" b="1" i="1" dirty="0"/>
          </a:p>
        </p:txBody>
      </p:sp>
      <p:sp>
        <p:nvSpPr>
          <p:cNvPr id="11" name="Rectangle: Rounded Corners 10">
            <a:extLst>
              <a:ext uri="{FF2B5EF4-FFF2-40B4-BE49-F238E27FC236}">
                <a16:creationId xmlns:a16="http://schemas.microsoft.com/office/drawing/2014/main" id="{1E4D4931-DEC2-C5A2-C851-82C81220AF54}"/>
              </a:ext>
            </a:extLst>
          </p:cNvPr>
          <p:cNvSpPr/>
          <p:nvPr/>
        </p:nvSpPr>
        <p:spPr>
          <a:xfrm>
            <a:off x="4724399" y="5326225"/>
            <a:ext cx="6593633" cy="1180323"/>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28,933 bookings were cancelled either by customers or drivers</a:t>
            </a:r>
            <a:r>
              <a:rPr lang="en-US" b="1" i="1" dirty="0"/>
              <a:t>.</a:t>
            </a:r>
          </a:p>
          <a:p>
            <a:pPr algn="ctr"/>
            <a:r>
              <a:rPr lang="en-US" dirty="0"/>
              <a:t>High cancellations can negatively impact customer experience and operational efficiency</a:t>
            </a:r>
            <a:r>
              <a:rPr lang="en-US" b="1" i="1" dirty="0"/>
              <a:t>.</a:t>
            </a:r>
            <a:endParaRPr lang="en-US" dirty="0"/>
          </a:p>
        </p:txBody>
      </p:sp>
    </p:spTree>
    <p:extLst>
      <p:ext uri="{BB962C8B-B14F-4D97-AF65-F5344CB8AC3E}">
        <p14:creationId xmlns:p14="http://schemas.microsoft.com/office/powerpoint/2010/main" val="3074050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2F2D9EA-172D-1A91-0D3F-340E6421641E}"/>
              </a:ext>
            </a:extLst>
          </p:cNvPr>
          <p:cNvSpPr/>
          <p:nvPr/>
        </p:nvSpPr>
        <p:spPr>
          <a:xfrm>
            <a:off x="1708246" y="2564363"/>
            <a:ext cx="2052734" cy="1343607"/>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t>Cancellation booking Rate</a:t>
            </a:r>
          </a:p>
          <a:p>
            <a:pPr algn="ctr"/>
            <a:r>
              <a:rPr lang="en-US" b="1" dirty="0">
                <a:solidFill>
                  <a:schemeClr val="accent2">
                    <a:lumMod val="50000"/>
                  </a:schemeClr>
                </a:solidFill>
                <a:latin typeface="Candara" panose="020E0502030303020204" pitchFamily="34" charset="0"/>
              </a:rPr>
              <a:t>28.08%</a:t>
            </a:r>
          </a:p>
        </p:txBody>
      </p:sp>
      <p:sp>
        <p:nvSpPr>
          <p:cNvPr id="19" name="Rectangle 18">
            <a:extLst>
              <a:ext uri="{FF2B5EF4-FFF2-40B4-BE49-F238E27FC236}">
                <a16:creationId xmlns:a16="http://schemas.microsoft.com/office/drawing/2014/main" id="{95409368-C432-31CD-0AEA-E1CC29E7730C}"/>
              </a:ext>
            </a:extLst>
          </p:cNvPr>
          <p:cNvSpPr/>
          <p:nvPr/>
        </p:nvSpPr>
        <p:spPr>
          <a:xfrm>
            <a:off x="1708246" y="690465"/>
            <a:ext cx="2052734" cy="1343607"/>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t>Success booking Rate</a:t>
            </a:r>
          </a:p>
          <a:p>
            <a:pPr algn="ctr"/>
            <a:r>
              <a:rPr lang="en-US" b="1" dirty="0">
                <a:solidFill>
                  <a:schemeClr val="accent2">
                    <a:lumMod val="50000"/>
                  </a:schemeClr>
                </a:solidFill>
                <a:latin typeface="Candara" panose="020E0502030303020204" pitchFamily="34" charset="0"/>
              </a:rPr>
              <a:t>62.09%</a:t>
            </a:r>
          </a:p>
        </p:txBody>
      </p:sp>
      <p:sp>
        <p:nvSpPr>
          <p:cNvPr id="18" name="Rectangle 17">
            <a:extLst>
              <a:ext uri="{FF2B5EF4-FFF2-40B4-BE49-F238E27FC236}">
                <a16:creationId xmlns:a16="http://schemas.microsoft.com/office/drawing/2014/main" id="{9C6CA356-8BDE-6070-6E5C-000F1A0B254E}"/>
              </a:ext>
            </a:extLst>
          </p:cNvPr>
          <p:cNvSpPr/>
          <p:nvPr/>
        </p:nvSpPr>
        <p:spPr>
          <a:xfrm>
            <a:off x="1642932" y="4438263"/>
            <a:ext cx="2052734" cy="1343607"/>
          </a:xfrm>
          <a:prstGeom prst="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Total booking value</a:t>
            </a:r>
          </a:p>
          <a:p>
            <a:pPr algn="ctr"/>
            <a:r>
              <a:rPr lang="en-US" b="1" dirty="0">
                <a:solidFill>
                  <a:schemeClr val="accent2">
                    <a:lumMod val="50000"/>
                  </a:schemeClr>
                </a:solidFill>
                <a:latin typeface="Candara" panose="020E0502030303020204" pitchFamily="34" charset="0"/>
              </a:rPr>
              <a:t>35M</a:t>
            </a:r>
          </a:p>
        </p:txBody>
      </p:sp>
      <p:sp>
        <p:nvSpPr>
          <p:cNvPr id="5" name="Rectangle: Rounded Corners 4">
            <a:extLst>
              <a:ext uri="{FF2B5EF4-FFF2-40B4-BE49-F238E27FC236}">
                <a16:creationId xmlns:a16="http://schemas.microsoft.com/office/drawing/2014/main" id="{758E8707-3418-3C29-A30D-8C6D211BF1EC}"/>
              </a:ext>
            </a:extLst>
          </p:cNvPr>
          <p:cNvSpPr/>
          <p:nvPr/>
        </p:nvSpPr>
        <p:spPr>
          <a:xfrm>
            <a:off x="4341845" y="690465"/>
            <a:ext cx="6630955" cy="1343607"/>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The booking success rate is 62.09%, meaning approximately 62 out of every 100 bookings were completed successfully.</a:t>
            </a:r>
          </a:p>
          <a:p>
            <a:pPr algn="ctr"/>
            <a:endParaRPr lang="en-US" b="1" i="1" dirty="0"/>
          </a:p>
          <a:p>
            <a:pPr algn="ctr"/>
            <a:r>
              <a:rPr lang="en-US" dirty="0"/>
              <a:t>This suggests moderate operational efficiency</a:t>
            </a:r>
            <a:endParaRPr lang="en-US" b="1" i="1" dirty="0"/>
          </a:p>
        </p:txBody>
      </p:sp>
      <p:sp>
        <p:nvSpPr>
          <p:cNvPr id="6" name="Rectangle: Rounded Corners 5">
            <a:extLst>
              <a:ext uri="{FF2B5EF4-FFF2-40B4-BE49-F238E27FC236}">
                <a16:creationId xmlns:a16="http://schemas.microsoft.com/office/drawing/2014/main" id="{26A0CFEC-ADBD-A72A-CC0A-55E14EDB8975}"/>
              </a:ext>
            </a:extLst>
          </p:cNvPr>
          <p:cNvSpPr/>
          <p:nvPr/>
        </p:nvSpPr>
        <p:spPr>
          <a:xfrm>
            <a:off x="4341844" y="2564363"/>
            <a:ext cx="6630955" cy="1343607"/>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The cancellation rate stands at 28.08%, which is relatively high and may indicate issues such as driver unavailability, long waiting times, or customer drop-offs.</a:t>
            </a:r>
            <a:endParaRPr lang="en-US" b="1" i="1" dirty="0"/>
          </a:p>
        </p:txBody>
      </p:sp>
      <p:sp>
        <p:nvSpPr>
          <p:cNvPr id="7" name="Rectangle: Rounded Corners 6">
            <a:extLst>
              <a:ext uri="{FF2B5EF4-FFF2-40B4-BE49-F238E27FC236}">
                <a16:creationId xmlns:a16="http://schemas.microsoft.com/office/drawing/2014/main" id="{863C0C16-B40D-A28D-60C8-8D3E6CDF19E9}"/>
              </a:ext>
            </a:extLst>
          </p:cNvPr>
          <p:cNvSpPr/>
          <p:nvPr/>
        </p:nvSpPr>
        <p:spPr>
          <a:xfrm>
            <a:off x="4341844" y="4438261"/>
            <a:ext cx="6630955" cy="1343607"/>
          </a:xfrm>
          <a:prstGeom prst="roundRect">
            <a:avLst/>
          </a:prstGeom>
          <a:ln>
            <a:solidFill>
              <a:schemeClr val="accent1">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The platform generated a total booking value of 35 million.</a:t>
            </a:r>
          </a:p>
          <a:p>
            <a:pPr algn="ctr"/>
            <a:endParaRPr lang="en-US" b="1" i="1" dirty="0"/>
          </a:p>
          <a:p>
            <a:pPr algn="ctr"/>
            <a:r>
              <a:rPr lang="en-US" dirty="0"/>
              <a:t>This metric reflects the overall revenue contribution from completed bookings.</a:t>
            </a:r>
            <a:endParaRPr lang="en-US" b="1" i="1" dirty="0"/>
          </a:p>
        </p:txBody>
      </p:sp>
    </p:spTree>
    <p:extLst>
      <p:ext uri="{BB962C8B-B14F-4D97-AF65-F5344CB8AC3E}">
        <p14:creationId xmlns:p14="http://schemas.microsoft.com/office/powerpoint/2010/main" val="162908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9ACA4-62BA-5631-660E-5E44B94A853F}"/>
              </a:ext>
            </a:extLst>
          </p:cNvPr>
          <p:cNvSpPr>
            <a:spLocks noGrp="1"/>
          </p:cNvSpPr>
          <p:nvPr>
            <p:ph type="title"/>
          </p:nvPr>
        </p:nvSpPr>
        <p:spPr>
          <a:xfrm>
            <a:off x="1230768" y="625151"/>
            <a:ext cx="10018713" cy="776956"/>
          </a:xfrm>
          <a:ln>
            <a:noFill/>
          </a:ln>
          <a:effectLst>
            <a:glow rad="101600">
              <a:schemeClr val="accent1">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a:lstStyle/>
          <a:p>
            <a:pPr algn="ctr"/>
            <a:r>
              <a:rPr lang="en-US" b="1" dirty="0"/>
              <a:t>Top 5 Revenue-Generating Customers</a:t>
            </a:r>
          </a:p>
        </p:txBody>
      </p:sp>
      <p:pic>
        <p:nvPicPr>
          <p:cNvPr id="5" name="Picture 4">
            <a:extLst>
              <a:ext uri="{FF2B5EF4-FFF2-40B4-BE49-F238E27FC236}">
                <a16:creationId xmlns:a16="http://schemas.microsoft.com/office/drawing/2014/main" id="{875217DD-4B63-6C2C-6D1D-23D3A3541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768" y="2126842"/>
            <a:ext cx="3966384" cy="3620815"/>
          </a:xfrm>
          <a:prstGeom prst="rect">
            <a:avLst/>
          </a:prstGeom>
        </p:spPr>
      </p:pic>
      <p:sp>
        <p:nvSpPr>
          <p:cNvPr id="7" name="TextBox 6">
            <a:extLst>
              <a:ext uri="{FF2B5EF4-FFF2-40B4-BE49-F238E27FC236}">
                <a16:creationId xmlns:a16="http://schemas.microsoft.com/office/drawing/2014/main" id="{B5025252-3329-F1FB-0234-0597192274B7}"/>
              </a:ext>
            </a:extLst>
          </p:cNvPr>
          <p:cNvSpPr txBox="1"/>
          <p:nvPr/>
        </p:nvSpPr>
        <p:spPr>
          <a:xfrm>
            <a:off x="5558713" y="2139998"/>
            <a:ext cx="6097554" cy="1015663"/>
          </a:xfrm>
          <a:prstGeom prst="rect">
            <a:avLst/>
          </a:prstGeom>
          <a:noFill/>
          <a:effectLst>
            <a:outerShdw blurRad="50800" dist="38100" dir="2700000" algn="tl" rotWithShape="0">
              <a:prstClr val="black">
                <a:alpha val="40000"/>
              </a:prstClr>
            </a:outerShdw>
          </a:effectLst>
        </p:spPr>
        <p:txBody>
          <a:bodyPr wrap="square">
            <a:spAutoFit/>
          </a:bodyPr>
          <a:lstStyle/>
          <a:p>
            <a:r>
              <a:rPr lang="en-US" sz="2000" dirty="0">
                <a:solidFill>
                  <a:schemeClr val="accent3">
                    <a:lumMod val="50000"/>
                  </a:schemeClr>
                </a:solidFill>
              </a:rPr>
              <a:t>This analysis identifies the top 5 customers who contributed the highest booking revenue to the platform.</a:t>
            </a:r>
          </a:p>
        </p:txBody>
      </p:sp>
      <p:sp>
        <p:nvSpPr>
          <p:cNvPr id="9" name="TextBox 8">
            <a:extLst>
              <a:ext uri="{FF2B5EF4-FFF2-40B4-BE49-F238E27FC236}">
                <a16:creationId xmlns:a16="http://schemas.microsoft.com/office/drawing/2014/main" id="{E4AAB278-09D2-18A4-B92F-1196F2DF8BC0}"/>
              </a:ext>
            </a:extLst>
          </p:cNvPr>
          <p:cNvSpPr txBox="1"/>
          <p:nvPr/>
        </p:nvSpPr>
        <p:spPr>
          <a:xfrm>
            <a:off x="5558713" y="3491092"/>
            <a:ext cx="6097554" cy="707886"/>
          </a:xfrm>
          <a:prstGeom prst="rect">
            <a:avLst/>
          </a:prstGeom>
          <a:noFill/>
          <a:effectLst>
            <a:outerShdw blurRad="50800" dist="38100" dir="2700000" algn="tl" rotWithShape="0">
              <a:prstClr val="black">
                <a:alpha val="40000"/>
              </a:prstClr>
            </a:outerShdw>
          </a:effectLst>
        </p:spPr>
        <p:txBody>
          <a:bodyPr wrap="square">
            <a:spAutoFit/>
          </a:bodyPr>
          <a:lstStyle/>
          <a:p>
            <a:r>
              <a:rPr lang="en-US" sz="2000" dirty="0">
                <a:solidFill>
                  <a:schemeClr val="accent3">
                    <a:lumMod val="50000"/>
                  </a:schemeClr>
                </a:solidFill>
              </a:rPr>
              <a:t>This helps the company identify high-value customers who contribute significantly to overall revenue.</a:t>
            </a:r>
          </a:p>
        </p:txBody>
      </p:sp>
      <p:sp>
        <p:nvSpPr>
          <p:cNvPr id="10" name="TextBox 9">
            <a:extLst>
              <a:ext uri="{FF2B5EF4-FFF2-40B4-BE49-F238E27FC236}">
                <a16:creationId xmlns:a16="http://schemas.microsoft.com/office/drawing/2014/main" id="{448C96B6-3C56-DB01-58F0-403B09BE63DE}"/>
              </a:ext>
            </a:extLst>
          </p:cNvPr>
          <p:cNvSpPr txBox="1"/>
          <p:nvPr/>
        </p:nvSpPr>
        <p:spPr>
          <a:xfrm>
            <a:off x="5558713" y="4534409"/>
            <a:ext cx="6097554" cy="1015663"/>
          </a:xfrm>
          <a:prstGeom prst="rect">
            <a:avLst/>
          </a:prstGeom>
          <a:noFill/>
          <a:effectLst>
            <a:outerShdw blurRad="50800" dist="38100" dir="2700000" algn="tl" rotWithShape="0">
              <a:prstClr val="black">
                <a:alpha val="40000"/>
              </a:prstClr>
            </a:outerShdw>
          </a:effectLst>
        </p:spPr>
        <p:txBody>
          <a:bodyPr wrap="square">
            <a:spAutoFit/>
          </a:bodyPr>
          <a:lstStyle/>
          <a:p>
            <a:r>
              <a:rPr lang="en-US" sz="2000" dirty="0">
                <a:solidFill>
                  <a:schemeClr val="accent3">
                    <a:lumMod val="50000"/>
                  </a:schemeClr>
                </a:solidFill>
              </a:rPr>
              <a:t>These customers can be targeted for loyalty programs, premium services, or personalized offers to improve customer retention.</a:t>
            </a:r>
          </a:p>
        </p:txBody>
      </p:sp>
    </p:spTree>
    <p:extLst>
      <p:ext uri="{BB962C8B-B14F-4D97-AF65-F5344CB8AC3E}">
        <p14:creationId xmlns:p14="http://schemas.microsoft.com/office/powerpoint/2010/main" val="1377947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5FF76-FC61-735F-1D70-033C94130674}"/>
              </a:ext>
            </a:extLst>
          </p:cNvPr>
          <p:cNvSpPr>
            <a:spLocks noGrp="1"/>
          </p:cNvSpPr>
          <p:nvPr>
            <p:ph type="title"/>
          </p:nvPr>
        </p:nvSpPr>
        <p:spPr>
          <a:xfrm>
            <a:off x="1213418" y="119199"/>
            <a:ext cx="10018713" cy="835088"/>
          </a:xfrm>
        </p:spPr>
        <p:txBody>
          <a:bodyPr>
            <a:normAutofit/>
          </a:bodyPr>
          <a:lstStyle/>
          <a:p>
            <a:r>
              <a:rPr lang="en-US" sz="3600" b="1" dirty="0"/>
              <a:t>Revenue Distribution by Payment Method</a:t>
            </a:r>
          </a:p>
        </p:txBody>
      </p:sp>
      <p:pic>
        <p:nvPicPr>
          <p:cNvPr id="14" name="Picture 13">
            <a:extLst>
              <a:ext uri="{FF2B5EF4-FFF2-40B4-BE49-F238E27FC236}">
                <a16:creationId xmlns:a16="http://schemas.microsoft.com/office/drawing/2014/main" id="{0D669E7F-36E9-0DE6-D8F6-303B5004C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61" y="2665288"/>
            <a:ext cx="6761223" cy="3554963"/>
          </a:xfrm>
          <a:prstGeom prst="rect">
            <a:avLst/>
          </a:prstGeom>
        </p:spPr>
      </p:pic>
      <p:sp>
        <p:nvSpPr>
          <p:cNvPr id="15" name="Rectangle: Rounded Corners 14">
            <a:extLst>
              <a:ext uri="{FF2B5EF4-FFF2-40B4-BE49-F238E27FC236}">
                <a16:creationId xmlns:a16="http://schemas.microsoft.com/office/drawing/2014/main" id="{E43E7C17-7483-31D4-5E29-48ACD2941D94}"/>
              </a:ext>
            </a:extLst>
          </p:cNvPr>
          <p:cNvSpPr/>
          <p:nvPr/>
        </p:nvSpPr>
        <p:spPr>
          <a:xfrm>
            <a:off x="959869" y="1193384"/>
            <a:ext cx="10272262" cy="993709"/>
          </a:xfrm>
          <a:prstGeom prst="roundRect">
            <a:avLst/>
          </a:prstGeom>
          <a:ln>
            <a:solidFill>
              <a:schemeClr val="accent1">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i="1" dirty="0"/>
              <a:t>This chart shows the total booking revenue generated through different payment methods.</a:t>
            </a:r>
          </a:p>
        </p:txBody>
      </p:sp>
      <p:sp>
        <p:nvSpPr>
          <p:cNvPr id="16" name="Rectangle 15">
            <a:extLst>
              <a:ext uri="{FF2B5EF4-FFF2-40B4-BE49-F238E27FC236}">
                <a16:creationId xmlns:a16="http://schemas.microsoft.com/office/drawing/2014/main" id="{33F8127A-493E-09F6-3257-C5A56CE4A849}"/>
              </a:ext>
            </a:extLst>
          </p:cNvPr>
          <p:cNvSpPr/>
          <p:nvPr/>
        </p:nvSpPr>
        <p:spPr>
          <a:xfrm>
            <a:off x="7287210" y="2456748"/>
            <a:ext cx="4581329" cy="3972044"/>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eaLnBrk="0" fontAlgn="base" hangingPunct="0">
              <a:spcBef>
                <a:spcPct val="0"/>
              </a:spcBef>
              <a:spcAft>
                <a:spcPct val="0"/>
              </a:spcAft>
              <a:buFont typeface="Wingdings" panose="05000000000000000000" pitchFamily="2" charset="2"/>
              <a:buChar char="q"/>
            </a:pPr>
            <a:r>
              <a:rPr lang="en-US" sz="2000" dirty="0">
                <a:solidFill>
                  <a:schemeClr val="tx2"/>
                </a:solidFill>
              </a:rPr>
              <a:t>The analysis shows that Cash is the most frequently used payment method in terms of booking value contribution, while UPI is the second-largest contributor. Digital card-based payments such as Credit Card and Debit Card have relatively lower adoption among customers.</a:t>
            </a:r>
          </a:p>
        </p:txBody>
      </p:sp>
    </p:spTree>
    <p:extLst>
      <p:ext uri="{BB962C8B-B14F-4D97-AF65-F5344CB8AC3E}">
        <p14:creationId xmlns:p14="http://schemas.microsoft.com/office/powerpoint/2010/main" val="2080379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4FB18-91DC-9963-0647-0A5D36184432}"/>
              </a:ext>
            </a:extLst>
          </p:cNvPr>
          <p:cNvSpPr>
            <a:spLocks noGrp="1"/>
          </p:cNvSpPr>
          <p:nvPr>
            <p:ph type="title"/>
          </p:nvPr>
        </p:nvSpPr>
        <p:spPr>
          <a:xfrm>
            <a:off x="1463455" y="214604"/>
            <a:ext cx="10018713" cy="1250302"/>
          </a:xfrm>
        </p:spPr>
        <p:txBody>
          <a:bodyPr>
            <a:normAutofit/>
          </a:bodyPr>
          <a:lstStyle/>
          <a:p>
            <a:pPr algn="ctr"/>
            <a:r>
              <a:rPr lang="en-US" sz="4400" b="1" dirty="0"/>
              <a:t>Booking Status Breakdown</a:t>
            </a:r>
          </a:p>
        </p:txBody>
      </p:sp>
      <p:pic>
        <p:nvPicPr>
          <p:cNvPr id="9" name="Content Placeholder 8">
            <a:extLst>
              <a:ext uri="{FF2B5EF4-FFF2-40B4-BE49-F238E27FC236}">
                <a16:creationId xmlns:a16="http://schemas.microsoft.com/office/drawing/2014/main" id="{BE0C9FA1-B2F3-94FF-5DD0-231A95BF2BB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10548" y="1856792"/>
            <a:ext cx="5969972" cy="4068147"/>
          </a:xfrm>
        </p:spPr>
      </p:pic>
      <p:sp>
        <p:nvSpPr>
          <p:cNvPr id="7" name="Content Placeholder 6">
            <a:extLst>
              <a:ext uri="{FF2B5EF4-FFF2-40B4-BE49-F238E27FC236}">
                <a16:creationId xmlns:a16="http://schemas.microsoft.com/office/drawing/2014/main" id="{57613A49-91F1-FEC5-37FB-5A01CB234B49}"/>
              </a:ext>
            </a:extLst>
          </p:cNvPr>
          <p:cNvSpPr>
            <a:spLocks noGrp="1"/>
          </p:cNvSpPr>
          <p:nvPr>
            <p:ph sz="quarter" idx="4"/>
          </p:nvPr>
        </p:nvSpPr>
        <p:spPr>
          <a:xfrm>
            <a:off x="6691943" y="1464906"/>
            <a:ext cx="5213918" cy="4879910"/>
          </a:xfrm>
        </p:spPr>
        <p:txBody>
          <a:bodyPr>
            <a:normAutofit lnSpcReduction="10000"/>
          </a:bodyPr>
          <a:lstStyle/>
          <a:p>
            <a:r>
              <a:rPr lang="en-US" dirty="0"/>
              <a:t>This chart shows the distribution of booking outcomes on the platform.</a:t>
            </a:r>
          </a:p>
          <a:p>
            <a:r>
              <a:rPr lang="en-US" dirty="0"/>
              <a:t>Around </a:t>
            </a:r>
            <a:r>
              <a:rPr lang="en-US" b="1" dirty="0"/>
              <a:t>62.09%</a:t>
            </a:r>
            <a:r>
              <a:rPr lang="en-US" dirty="0"/>
              <a:t> of bookings were completed successfully, which represents the majority of ride requests.</a:t>
            </a:r>
          </a:p>
          <a:p>
            <a:r>
              <a:rPr lang="en-US" dirty="0"/>
              <a:t>However, a significant portion of bookings were cancelled by drivers and customers.</a:t>
            </a:r>
          </a:p>
          <a:p>
            <a:r>
              <a:rPr lang="en-US" dirty="0"/>
              <a:t>Driver-side cancellations account for </a:t>
            </a:r>
            <a:r>
              <a:rPr lang="en-US" b="1" dirty="0"/>
              <a:t>17.89%</a:t>
            </a:r>
            <a:r>
              <a:rPr lang="en-US" dirty="0"/>
              <a:t>, while customer-side cancellations contribute </a:t>
            </a:r>
            <a:r>
              <a:rPr lang="en-US" b="1" dirty="0"/>
              <a:t>10.19%.</a:t>
            </a:r>
          </a:p>
          <a:p>
            <a:r>
              <a:rPr lang="en-US" dirty="0"/>
              <a:t>Additionally, 9.83% of bookings failed because drivers were not available.</a:t>
            </a:r>
          </a:p>
          <a:p>
            <a:r>
              <a:rPr lang="en-US" dirty="0"/>
              <a:t>The high cancellation and driver unavailability rates may negatively impact customer satisfaction and operational efficiency.</a:t>
            </a:r>
          </a:p>
        </p:txBody>
      </p:sp>
    </p:spTree>
    <p:extLst>
      <p:ext uri="{BB962C8B-B14F-4D97-AF65-F5344CB8AC3E}">
        <p14:creationId xmlns:p14="http://schemas.microsoft.com/office/powerpoint/2010/main" val="1051821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E930DF5-FACD-572C-613A-65CA3D89B337}"/>
              </a:ext>
            </a:extLst>
          </p:cNvPr>
          <p:cNvSpPr/>
          <p:nvPr/>
        </p:nvSpPr>
        <p:spPr>
          <a:xfrm>
            <a:off x="1717962" y="559837"/>
            <a:ext cx="9619861" cy="1184988"/>
          </a:xfrm>
          <a:prstGeom prst="rect">
            <a:avLst/>
          </a:prstGeom>
          <a:solidFill>
            <a:schemeClr val="accent2">
              <a:lumMod val="20000"/>
              <a:lumOff val="8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a:t>Customer Vs. Driver Cancellation</a:t>
            </a:r>
          </a:p>
        </p:txBody>
      </p:sp>
      <p:pic>
        <p:nvPicPr>
          <p:cNvPr id="16" name="Picture 15">
            <a:extLst>
              <a:ext uri="{FF2B5EF4-FFF2-40B4-BE49-F238E27FC236}">
                <a16:creationId xmlns:a16="http://schemas.microsoft.com/office/drawing/2014/main" id="{2AA6D199-F0B0-B725-3E84-20639062B7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448" y="2225361"/>
            <a:ext cx="5947552" cy="4203432"/>
          </a:xfrm>
          <a:prstGeom prst="rect">
            <a:avLst/>
          </a:prstGeom>
          <a:ln>
            <a:solidFill>
              <a:schemeClr val="bg2">
                <a:lumMod val="10000"/>
              </a:schemeClr>
            </a:solidFill>
          </a:ln>
        </p:spPr>
      </p:pic>
      <p:pic>
        <p:nvPicPr>
          <p:cNvPr id="18" name="Picture 17">
            <a:extLst>
              <a:ext uri="{FF2B5EF4-FFF2-40B4-BE49-F238E27FC236}">
                <a16:creationId xmlns:a16="http://schemas.microsoft.com/office/drawing/2014/main" id="{DEC77CA8-7667-2020-C70D-8C1BF6B01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6783" y="2225360"/>
            <a:ext cx="5586769" cy="4268746"/>
          </a:xfrm>
          <a:prstGeom prst="rect">
            <a:avLst/>
          </a:prstGeom>
          <a:ln>
            <a:solidFill>
              <a:schemeClr val="tx1">
                <a:lumMod val="85000"/>
                <a:lumOff val="15000"/>
              </a:schemeClr>
            </a:solidFill>
          </a:ln>
        </p:spPr>
      </p:pic>
    </p:spTree>
    <p:extLst>
      <p:ext uri="{BB962C8B-B14F-4D97-AF65-F5344CB8AC3E}">
        <p14:creationId xmlns:p14="http://schemas.microsoft.com/office/powerpoint/2010/main" val="1849891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160BDF-B4F1-1116-429D-1E2099C2E509}"/>
              </a:ext>
            </a:extLst>
          </p:cNvPr>
          <p:cNvSpPr/>
          <p:nvPr/>
        </p:nvSpPr>
        <p:spPr>
          <a:xfrm>
            <a:off x="251927" y="158620"/>
            <a:ext cx="5844073" cy="6512768"/>
          </a:xfrm>
          <a:prstGeom prst="roundRect">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Reasons for Customer Ride Cancellations</a:t>
            </a:r>
          </a:p>
          <a:p>
            <a:pPr algn="ctr"/>
            <a:endParaRPr lang="en-US" sz="2400" dirty="0"/>
          </a:p>
          <a:p>
            <a:pPr algn="ctr"/>
            <a:r>
              <a:rPr lang="en-US" sz="2000" dirty="0"/>
              <a:t>The most common reason was that drivers were not moving toward the pickup location, contributing around 30% of customer cancellations</a:t>
            </a:r>
            <a:r>
              <a:rPr lang="en-US" sz="2400" dirty="0"/>
              <a:t>.</a:t>
            </a:r>
          </a:p>
          <a:p>
            <a:pPr algn="ctr"/>
            <a:endParaRPr lang="en-US" sz="2400" dirty="0"/>
          </a:p>
          <a:p>
            <a:pPr algn="ctr"/>
            <a:r>
              <a:rPr lang="en-US" sz="2000" dirty="0"/>
              <a:t>Another major reason was drivers asking customers to cancel the ride.</a:t>
            </a:r>
          </a:p>
          <a:p>
            <a:pPr algn="ctr"/>
            <a:endParaRPr lang="en-US" sz="2000" dirty="0"/>
          </a:p>
          <a:p>
            <a:pPr algn="ctr"/>
            <a:r>
              <a:rPr lang="en-US" sz="2000" dirty="0"/>
              <a:t>These issues may reduce customer trust and negatively affect user experience.</a:t>
            </a:r>
          </a:p>
          <a:p>
            <a:pPr algn="ctr"/>
            <a:endParaRPr lang="en-US" sz="2000" dirty="0"/>
          </a:p>
          <a:p>
            <a:pPr algn="ctr"/>
            <a:r>
              <a:rPr lang="en-US" sz="2000" dirty="0"/>
              <a:t>The platform can reduce cancellations by improving driver accountability and reducing pickup delays.</a:t>
            </a:r>
          </a:p>
        </p:txBody>
      </p:sp>
      <p:sp>
        <p:nvSpPr>
          <p:cNvPr id="3" name="Rectangle: Rounded Corners 2">
            <a:extLst>
              <a:ext uri="{FF2B5EF4-FFF2-40B4-BE49-F238E27FC236}">
                <a16:creationId xmlns:a16="http://schemas.microsoft.com/office/drawing/2014/main" id="{1B6F9C2B-0440-97DE-C871-60E700D347E3}"/>
              </a:ext>
            </a:extLst>
          </p:cNvPr>
          <p:cNvSpPr/>
          <p:nvPr/>
        </p:nvSpPr>
        <p:spPr>
          <a:xfrm>
            <a:off x="6372808" y="158619"/>
            <a:ext cx="5567265" cy="6512767"/>
          </a:xfrm>
          <a:prstGeom prst="roundRect">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Reasons for Driver Ride Cancellations</a:t>
            </a:r>
          </a:p>
          <a:p>
            <a:pPr algn="ctr"/>
            <a:endParaRPr lang="en-US" sz="2000" b="1" dirty="0"/>
          </a:p>
          <a:p>
            <a:pPr algn="ctr"/>
            <a:r>
              <a:rPr lang="en-US" sz="2000" dirty="0"/>
              <a:t>Personal and car-related issues were the leading cause, contributing around 35% of driver cancellations.</a:t>
            </a:r>
            <a:endParaRPr lang="en-US" sz="2000" b="1" dirty="0"/>
          </a:p>
          <a:p>
            <a:pPr algn="ctr"/>
            <a:endParaRPr lang="en-US" sz="2000" b="1" dirty="0"/>
          </a:p>
          <a:p>
            <a:pPr algn="ctr"/>
            <a:r>
              <a:rPr lang="en-US" sz="2000" dirty="0"/>
              <a:t>“Customer-related issues and customer behavior also contributed significantly</a:t>
            </a:r>
            <a:endParaRPr lang="en-US" sz="2000" b="1" dirty="0"/>
          </a:p>
          <a:p>
            <a:pPr algn="ctr"/>
            <a:endParaRPr lang="en-US" sz="2000" b="1" dirty="0"/>
          </a:p>
          <a:p>
            <a:pPr algn="ctr"/>
            <a:r>
              <a:rPr lang="en-US" sz="2000" dirty="0"/>
              <a:t>his suggests that both operational issues and rider behavior affect ride completion rates</a:t>
            </a:r>
            <a:r>
              <a:rPr lang="en-US" sz="2000" b="1" dirty="0"/>
              <a:t>.</a:t>
            </a:r>
          </a:p>
          <a:p>
            <a:pPr algn="ctr"/>
            <a:endParaRPr lang="en-US" sz="2000" b="1" dirty="0"/>
          </a:p>
          <a:p>
            <a:pPr algn="ctr"/>
            <a:r>
              <a:rPr lang="en-US" sz="2000" dirty="0"/>
              <a:t>Reducing driver-side operational issues could improve overall booking success rates</a:t>
            </a:r>
            <a:r>
              <a:rPr lang="en-US" sz="2000" b="1" dirty="0"/>
              <a:t>.</a:t>
            </a:r>
          </a:p>
        </p:txBody>
      </p:sp>
    </p:spTree>
    <p:extLst>
      <p:ext uri="{BB962C8B-B14F-4D97-AF65-F5344CB8AC3E}">
        <p14:creationId xmlns:p14="http://schemas.microsoft.com/office/powerpoint/2010/main" val="3906268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D8E1A-8E6E-4646-E078-2E584B66BC63}"/>
              </a:ext>
            </a:extLst>
          </p:cNvPr>
          <p:cNvSpPr>
            <a:spLocks noGrp="1"/>
          </p:cNvSpPr>
          <p:nvPr>
            <p:ph type="title"/>
          </p:nvPr>
        </p:nvSpPr>
        <p:spPr>
          <a:xfrm>
            <a:off x="677334" y="737118"/>
            <a:ext cx="5051662" cy="1278466"/>
          </a:xfrm>
        </p:spPr>
        <p:txBody>
          <a:bodyPr>
            <a:normAutofit/>
          </a:bodyPr>
          <a:lstStyle/>
          <a:p>
            <a:r>
              <a:rPr lang="en-US" sz="3200" b="1" dirty="0"/>
              <a:t>Revenue Contribution by Vehicle Type</a:t>
            </a:r>
          </a:p>
        </p:txBody>
      </p:sp>
      <p:pic>
        <p:nvPicPr>
          <p:cNvPr id="6" name="Content Placeholder 5">
            <a:extLst>
              <a:ext uri="{FF2B5EF4-FFF2-40B4-BE49-F238E27FC236}">
                <a16:creationId xmlns:a16="http://schemas.microsoft.com/office/drawing/2014/main" id="{95FD199B-856D-A468-895A-25F05F8237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0923" y="1017037"/>
            <a:ext cx="5998806" cy="5178489"/>
          </a:xfrm>
        </p:spPr>
      </p:pic>
      <p:sp>
        <p:nvSpPr>
          <p:cNvPr id="4" name="Text Placeholder 3">
            <a:extLst>
              <a:ext uri="{FF2B5EF4-FFF2-40B4-BE49-F238E27FC236}">
                <a16:creationId xmlns:a16="http://schemas.microsoft.com/office/drawing/2014/main" id="{BBE84671-0DFC-1C2E-0172-A3B94FE2B51E}"/>
              </a:ext>
            </a:extLst>
          </p:cNvPr>
          <p:cNvSpPr>
            <a:spLocks noGrp="1"/>
          </p:cNvSpPr>
          <p:nvPr>
            <p:ph type="body" sz="half" idx="2"/>
          </p:nvPr>
        </p:nvSpPr>
        <p:spPr>
          <a:xfrm>
            <a:off x="677334" y="2090057"/>
            <a:ext cx="5051662" cy="4105469"/>
          </a:xfrm>
        </p:spPr>
        <p:txBody>
          <a:bodyPr>
            <a:normAutofit/>
          </a:bodyPr>
          <a:lstStyle/>
          <a:p>
            <a:r>
              <a:rPr lang="en-US" sz="1600" dirty="0"/>
              <a:t>This chart shows the total revenue generated by each vehicle category.</a:t>
            </a:r>
          </a:p>
          <a:p>
            <a:r>
              <a:rPr lang="en-US" sz="1600" dirty="0"/>
              <a:t>Prime Sedan generated the highest revenue contribution, followed closely by eBike and Auto services.</a:t>
            </a:r>
          </a:p>
          <a:p>
            <a:r>
              <a:rPr lang="en-US" sz="1600" dirty="0"/>
              <a:t>Most vehicle categories contributed nearly similar revenue, indicating balanced customer demand across services.</a:t>
            </a:r>
          </a:p>
          <a:p>
            <a:r>
              <a:rPr lang="en-US" sz="1600" dirty="0"/>
              <a:t>This suggests that customers use different vehicle categories for different travel needs rather than relying heavily on a single category.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1"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1" u="none" strike="noStrike" cap="none" normalizeH="0" baseline="0" dirty="0">
                <a:ln>
                  <a:noFill/>
                </a:ln>
                <a:solidFill>
                  <a:schemeClr val="tx1"/>
                </a:solidFill>
                <a:effectLst/>
                <a:latin typeface="Arial" panose="020B0604020202020204" pitchFamily="34" charset="0"/>
              </a:rPr>
              <a:t>no vehicle type dominates revenue heavily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1" u="none" strike="noStrike" cap="none" normalizeH="0" baseline="0" dirty="0">
                <a:ln>
                  <a:noFill/>
                </a:ln>
                <a:solidFill>
                  <a:schemeClr val="tx1"/>
                </a:solidFill>
                <a:effectLst/>
                <a:latin typeface="Arial" panose="020B0604020202020204" pitchFamily="34" charset="0"/>
              </a:rPr>
              <a:t>revenue distribution is relatively balanced </a:t>
            </a:r>
          </a:p>
          <a:p>
            <a:endParaRPr lang="en-US" sz="1600" dirty="0"/>
          </a:p>
          <a:p>
            <a:endParaRPr lang="en-US" sz="1600" dirty="0"/>
          </a:p>
        </p:txBody>
      </p:sp>
    </p:spTree>
    <p:extLst>
      <p:ext uri="{BB962C8B-B14F-4D97-AF65-F5344CB8AC3E}">
        <p14:creationId xmlns:p14="http://schemas.microsoft.com/office/powerpoint/2010/main" val="32003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8576D-FAE1-EA92-6BB7-21301D567B88}"/>
              </a:ext>
            </a:extLst>
          </p:cNvPr>
          <p:cNvSpPr>
            <a:spLocks noGrp="1"/>
          </p:cNvSpPr>
          <p:nvPr>
            <p:ph type="title"/>
          </p:nvPr>
        </p:nvSpPr>
        <p:spPr>
          <a:xfrm>
            <a:off x="553214" y="317154"/>
            <a:ext cx="3854528" cy="1278466"/>
          </a:xfrm>
        </p:spPr>
        <p:txBody>
          <a:bodyPr>
            <a:normAutofit/>
          </a:bodyPr>
          <a:lstStyle/>
          <a:p>
            <a:r>
              <a:rPr lang="en-US" sz="3600" b="1" dirty="0"/>
              <a:t>Average Travel Distance</a:t>
            </a:r>
          </a:p>
        </p:txBody>
      </p:sp>
      <p:pic>
        <p:nvPicPr>
          <p:cNvPr id="6" name="Content Placeholder 5">
            <a:extLst>
              <a:ext uri="{FF2B5EF4-FFF2-40B4-BE49-F238E27FC236}">
                <a16:creationId xmlns:a16="http://schemas.microsoft.com/office/drawing/2014/main" id="{CB0659FB-EEAC-4859-590B-27CB9CC8DF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5950" y="1362269"/>
            <a:ext cx="5546914" cy="4945225"/>
          </a:xfrm>
        </p:spPr>
      </p:pic>
      <p:sp>
        <p:nvSpPr>
          <p:cNvPr id="4" name="Text Placeholder 3">
            <a:extLst>
              <a:ext uri="{FF2B5EF4-FFF2-40B4-BE49-F238E27FC236}">
                <a16:creationId xmlns:a16="http://schemas.microsoft.com/office/drawing/2014/main" id="{7EFC9BD3-99E7-D40A-F4B9-12DBE308A323}"/>
              </a:ext>
            </a:extLst>
          </p:cNvPr>
          <p:cNvSpPr>
            <a:spLocks noGrp="1"/>
          </p:cNvSpPr>
          <p:nvPr>
            <p:ph type="body" sz="half" idx="2"/>
          </p:nvPr>
        </p:nvSpPr>
        <p:spPr>
          <a:xfrm>
            <a:off x="553214" y="1841999"/>
            <a:ext cx="5862736" cy="4465495"/>
          </a:xfrm>
        </p:spPr>
        <p:txBody>
          <a:bodyPr>
            <a:normAutofit fontScale="92500"/>
          </a:bodyPr>
          <a:lstStyle/>
          <a:p>
            <a:r>
              <a:rPr lang="en-US" sz="1800" dirty="0"/>
              <a:t>This chart shows the average travel distance per ride across vehicle categories.</a:t>
            </a:r>
          </a:p>
          <a:p>
            <a:r>
              <a:rPr lang="en-US" sz="1800" dirty="0"/>
              <a:t>Most premium and bike-based vehicle categories recorded an average trip distance of around 25 kilometers.</a:t>
            </a:r>
          </a:p>
          <a:p>
            <a:r>
              <a:rPr lang="en-US" sz="1800" dirty="0"/>
              <a:t>However, Auto rides showed a significantly lower average distance of approximately 10 kilometers.</a:t>
            </a:r>
          </a:p>
          <a:p>
            <a:r>
              <a:rPr lang="en-US" sz="1800" dirty="0"/>
              <a:t>This indicates that Auto services are primarily preferred for short-distance urban travel, while premium and bike categories are used for comparatively longer trips.</a:t>
            </a:r>
          </a:p>
          <a:p>
            <a:r>
              <a:rPr lang="en-US" sz="1800" dirty="0"/>
              <a:t>Overall, the analysis indicates that different vehicle categories serve different customer travel behaviors. Auto services dominate short-distance urban mobility, while premium categories are more associated with longer-distance travel.</a:t>
            </a:r>
          </a:p>
        </p:txBody>
      </p:sp>
    </p:spTree>
    <p:extLst>
      <p:ext uri="{BB962C8B-B14F-4D97-AF65-F5344CB8AC3E}">
        <p14:creationId xmlns:p14="http://schemas.microsoft.com/office/powerpoint/2010/main" val="1784381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89C8C0D-9190-D753-05C7-24C5BE460C99}"/>
              </a:ext>
            </a:extLst>
          </p:cNvPr>
          <p:cNvSpPr txBox="1">
            <a:spLocks noGrp="1"/>
          </p:cNvSpPr>
          <p:nvPr>
            <p:ph type="title"/>
          </p:nvPr>
        </p:nvSpPr>
        <p:spPr>
          <a:xfrm>
            <a:off x="363895" y="123111"/>
            <a:ext cx="11094137" cy="1077218"/>
          </a:xfrm>
          <a:prstGeom prst="rect">
            <a:avLst/>
          </a:prstGeom>
          <a:noFill/>
        </p:spPr>
        <p:txBody>
          <a:bodyPr wrap="square">
            <a:spAutoFit/>
          </a:bodyPr>
          <a:lstStyle/>
          <a:p>
            <a:r>
              <a:rPr lang="en-US" sz="3200" b="1" dirty="0"/>
              <a:t>Customer Satisfaction Across </a:t>
            </a:r>
            <a:br>
              <a:rPr lang="en-US" sz="3200" b="1" dirty="0"/>
            </a:br>
            <a:r>
              <a:rPr lang="en-US" sz="3200" b="1" dirty="0"/>
              <a:t>Vehicle Types</a:t>
            </a:r>
          </a:p>
        </p:txBody>
      </p:sp>
      <p:pic>
        <p:nvPicPr>
          <p:cNvPr id="12" name="Picture 11">
            <a:extLst>
              <a:ext uri="{FF2B5EF4-FFF2-40B4-BE49-F238E27FC236}">
                <a16:creationId xmlns:a16="http://schemas.microsoft.com/office/drawing/2014/main" id="{D3F2D49E-7BCF-0899-647E-96E519C86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049" y="1360405"/>
            <a:ext cx="11765901" cy="1895978"/>
          </a:xfrm>
          <a:prstGeom prst="rect">
            <a:avLst/>
          </a:prstGeom>
        </p:spPr>
      </p:pic>
      <p:sp>
        <p:nvSpPr>
          <p:cNvPr id="14" name="Rectangle: Rounded Corners 13">
            <a:extLst>
              <a:ext uri="{FF2B5EF4-FFF2-40B4-BE49-F238E27FC236}">
                <a16:creationId xmlns:a16="http://schemas.microsoft.com/office/drawing/2014/main" id="{DA5A6DA9-76B8-1E26-A803-EC860FB5E354}"/>
              </a:ext>
            </a:extLst>
          </p:cNvPr>
          <p:cNvSpPr/>
          <p:nvPr/>
        </p:nvSpPr>
        <p:spPr>
          <a:xfrm>
            <a:off x="363895" y="3331681"/>
            <a:ext cx="11495314" cy="3433013"/>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This analysis compares customer ratings across different vehicle categories to evaluate customer satisfaction and service quality.</a:t>
            </a:r>
          </a:p>
          <a:p>
            <a:pPr algn="ctr"/>
            <a:endParaRPr lang="en-US" sz="1600" b="1" i="1" dirty="0"/>
          </a:p>
          <a:p>
            <a:pPr algn="ctr"/>
            <a:r>
              <a:rPr lang="en-US" sz="1600" dirty="0"/>
              <a:t>The ratings across all vehicle categories are highly consistent, with average ratings close to 4.0</a:t>
            </a:r>
          </a:p>
          <a:p>
            <a:pPr algn="ctr"/>
            <a:endParaRPr lang="en-US" sz="1600" b="1" i="1" dirty="0"/>
          </a:p>
          <a:p>
            <a:pPr algn="ctr"/>
            <a:r>
              <a:rPr lang="en-US" sz="1600" dirty="0"/>
              <a:t>Prime Plus received the highest average customer rating at 4.01, while Bike and E-Bike categories recorded slightly lower ratings at 3.99.</a:t>
            </a:r>
          </a:p>
          <a:p>
            <a:pPr algn="ctr"/>
            <a:endParaRPr lang="en-US" sz="1600" b="1" i="1" dirty="0"/>
          </a:p>
          <a:p>
            <a:pPr algn="ctr"/>
            <a:r>
              <a:rPr lang="en-US" sz="1600" dirty="0"/>
              <a:t>The minimal variation in ratings suggests that the platform is delivering relatively consistent service quality across all vehicle categories.</a:t>
            </a:r>
          </a:p>
          <a:p>
            <a:pPr algn="ctr"/>
            <a:endParaRPr lang="en-US" sz="1600" b="1" i="1" dirty="0"/>
          </a:p>
          <a:p>
            <a:pPr algn="ctr"/>
            <a:r>
              <a:rPr lang="en-US" sz="1600" dirty="0"/>
              <a:t>Overall, the platform maintains a stable customer satisfaction level across different vehicle categories, indicating a fairly consistent user experience.</a:t>
            </a:r>
            <a:endParaRPr lang="en-US" sz="1600" b="1" i="1" dirty="0"/>
          </a:p>
        </p:txBody>
      </p:sp>
    </p:spTree>
    <p:extLst>
      <p:ext uri="{BB962C8B-B14F-4D97-AF65-F5344CB8AC3E}">
        <p14:creationId xmlns:p14="http://schemas.microsoft.com/office/powerpoint/2010/main" val="1192481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9">
            <a:extLst>
              <a:ext uri="{FF2B5EF4-FFF2-40B4-BE49-F238E27FC236}">
                <a16:creationId xmlns:a16="http://schemas.microsoft.com/office/drawing/2014/main" id="{ACD47FBA-12C0-509E-6FC3-FCDD1182DF56}"/>
              </a:ext>
            </a:extLst>
          </p:cNvPr>
          <p:cNvSpPr txBox="1">
            <a:spLocks noGrp="1"/>
          </p:cNvSpPr>
          <p:nvPr>
            <p:ph type="title"/>
          </p:nvPr>
        </p:nvSpPr>
        <p:spPr>
          <a:xfrm>
            <a:off x="363895" y="0"/>
            <a:ext cx="11495313" cy="1077218"/>
          </a:xfrm>
          <a:prstGeom prst="rect">
            <a:avLst/>
          </a:prstGeom>
          <a:noFill/>
        </p:spPr>
        <p:txBody>
          <a:bodyPr wrap="square">
            <a:spAutoFit/>
          </a:bodyPr>
          <a:lstStyle/>
          <a:p>
            <a:r>
              <a:rPr lang="en-US" sz="3200" b="1" dirty="0"/>
              <a:t>Driver Satisfaction Across </a:t>
            </a:r>
            <a:br>
              <a:rPr lang="en-US" sz="3200" b="1" dirty="0"/>
            </a:br>
            <a:r>
              <a:rPr lang="en-US" sz="3200" b="1" dirty="0"/>
              <a:t>Vehicle Types</a:t>
            </a:r>
            <a:endParaRPr lang="en-US" sz="3600" b="1" dirty="0"/>
          </a:p>
        </p:txBody>
      </p:sp>
      <p:pic>
        <p:nvPicPr>
          <p:cNvPr id="7" name="Picture 6">
            <a:extLst>
              <a:ext uri="{FF2B5EF4-FFF2-40B4-BE49-F238E27FC236}">
                <a16:creationId xmlns:a16="http://schemas.microsoft.com/office/drawing/2014/main" id="{BEADE56E-9244-C68D-2CCA-D743D6FD69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28" y="1216636"/>
            <a:ext cx="11777447" cy="1737511"/>
          </a:xfrm>
          <a:prstGeom prst="rect">
            <a:avLst/>
          </a:prstGeom>
        </p:spPr>
      </p:pic>
      <p:sp>
        <p:nvSpPr>
          <p:cNvPr id="8" name="Rectangle: Rounded Corners 7">
            <a:extLst>
              <a:ext uri="{FF2B5EF4-FFF2-40B4-BE49-F238E27FC236}">
                <a16:creationId xmlns:a16="http://schemas.microsoft.com/office/drawing/2014/main" id="{E148534A-B231-0798-3774-F7F5BD5480F4}"/>
              </a:ext>
            </a:extLst>
          </p:cNvPr>
          <p:cNvSpPr/>
          <p:nvPr/>
        </p:nvSpPr>
        <p:spPr>
          <a:xfrm>
            <a:off x="363895" y="3093565"/>
            <a:ext cx="11495314" cy="367112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This analysis compares driver ratings across different vehicle categories to evaluate overall service experience and operational consistency.</a:t>
            </a:r>
          </a:p>
          <a:p>
            <a:pPr algn="ctr"/>
            <a:endParaRPr lang="en-US" sz="1600" b="1" i="1" dirty="0"/>
          </a:p>
          <a:p>
            <a:pPr algn="ctr"/>
            <a:r>
              <a:rPr lang="en-US" sz="1600" dirty="0"/>
              <a:t>The average driver ratings across all vehicle categories are highly consistent, ranging between 3.98 and 4.01.</a:t>
            </a:r>
            <a:endParaRPr lang="en-US" sz="1600" b="1" i="1" dirty="0"/>
          </a:p>
          <a:p>
            <a:pPr algn="ctr"/>
            <a:endParaRPr lang="en-US" sz="1600" b="1" i="1" dirty="0"/>
          </a:p>
          <a:p>
            <a:pPr algn="ctr"/>
            <a:r>
              <a:rPr lang="en-US" sz="1600" dirty="0"/>
              <a:t>Prime SUV and E-Bike recorded the highest average ratings of 4.01, while Bike services received the lowest average rating at 3.98.</a:t>
            </a:r>
            <a:endParaRPr lang="en-US" sz="1600" b="1" i="1" dirty="0"/>
          </a:p>
          <a:p>
            <a:pPr algn="ctr"/>
            <a:endParaRPr lang="en-US" sz="1600" b="1" i="1" dirty="0"/>
          </a:p>
          <a:p>
            <a:pPr algn="ctr"/>
            <a:r>
              <a:rPr lang="en-US" sz="1600" dirty="0"/>
              <a:t>However, the variation in ratings is very small, indicating that service quality remains relatively stable across all vehicle categories</a:t>
            </a:r>
            <a:endParaRPr lang="en-US" sz="1600" b="1" i="1" dirty="0"/>
          </a:p>
          <a:p>
            <a:pPr algn="ctr"/>
            <a:endParaRPr lang="en-US" sz="1600" b="1" i="1" dirty="0"/>
          </a:p>
          <a:p>
            <a:pPr algn="ctr"/>
            <a:r>
              <a:rPr lang="en-US" sz="1600" dirty="0"/>
              <a:t>Overall, the platform maintains a consistent driver experience across vehicle categories, with only minimal variation in customer ratings</a:t>
            </a:r>
            <a:endParaRPr lang="en-US" sz="1600" b="1" i="1" dirty="0"/>
          </a:p>
        </p:txBody>
      </p:sp>
    </p:spTree>
    <p:extLst>
      <p:ext uri="{BB962C8B-B14F-4D97-AF65-F5344CB8AC3E}">
        <p14:creationId xmlns:p14="http://schemas.microsoft.com/office/powerpoint/2010/main" val="2957161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1582-1445-E9E0-BA33-AB5DC7DC8F31}"/>
              </a:ext>
            </a:extLst>
          </p:cNvPr>
          <p:cNvSpPr>
            <a:spLocks noGrp="1"/>
          </p:cNvSpPr>
          <p:nvPr>
            <p:ph type="title"/>
          </p:nvPr>
        </p:nvSpPr>
        <p:spPr>
          <a:xfrm>
            <a:off x="677333" y="462906"/>
            <a:ext cx="10556723" cy="1113967"/>
          </a:xfrm>
        </p:spPr>
        <p:txBody>
          <a:bodyPr>
            <a:normAutofit/>
          </a:bodyPr>
          <a:lstStyle/>
          <a:p>
            <a:r>
              <a:rPr lang="en-US" sz="5400" b="1" dirty="0"/>
              <a:t>Key Findings</a:t>
            </a:r>
          </a:p>
        </p:txBody>
      </p:sp>
      <p:sp>
        <p:nvSpPr>
          <p:cNvPr id="4" name="Text Placeholder 3">
            <a:extLst>
              <a:ext uri="{FF2B5EF4-FFF2-40B4-BE49-F238E27FC236}">
                <a16:creationId xmlns:a16="http://schemas.microsoft.com/office/drawing/2014/main" id="{14F4CC4D-E2C7-EE73-3616-B64DA5A1FDFE}"/>
              </a:ext>
            </a:extLst>
          </p:cNvPr>
          <p:cNvSpPr>
            <a:spLocks noGrp="1"/>
          </p:cNvSpPr>
          <p:nvPr>
            <p:ph type="body" sz="half" idx="2"/>
          </p:nvPr>
        </p:nvSpPr>
        <p:spPr>
          <a:xfrm>
            <a:off x="677334" y="1828801"/>
            <a:ext cx="10901956" cy="4566294"/>
          </a:xfrm>
        </p:spPr>
        <p:txBody>
          <a:bodyPr>
            <a:normAutofit fontScale="92500" lnSpcReduction="10000"/>
          </a:bodyPr>
          <a:lstStyle/>
          <a:p>
            <a:pPr marL="285750" indent="-285750">
              <a:buFont typeface="Wingdings" panose="05000000000000000000" pitchFamily="2" charset="2"/>
              <a:buChar char="à"/>
            </a:pPr>
            <a:endParaRPr lang="en-US" sz="1800" b="1" dirty="0"/>
          </a:p>
          <a:p>
            <a:pPr marL="285750" indent="-285750">
              <a:buFont typeface="Wingdings" panose="05000000000000000000" pitchFamily="2" charset="2"/>
              <a:buChar char="à"/>
            </a:pPr>
            <a:r>
              <a:rPr lang="en-US" sz="1800" b="1" dirty="0"/>
              <a:t>The platform recorded a high volume of bookings, indicating strong customer demand and active platform usage.</a:t>
            </a:r>
          </a:p>
          <a:p>
            <a:pPr marL="285750" indent="-285750">
              <a:buFont typeface="Wingdings" panose="05000000000000000000" pitchFamily="2" charset="2"/>
              <a:buChar char="à"/>
            </a:pPr>
            <a:r>
              <a:rPr lang="en-US" sz="1800" b="1" dirty="0"/>
              <a:t>Most vehicle categories contributed nearly similar revenue, showing balanced customer preference across different ride services.</a:t>
            </a:r>
          </a:p>
          <a:p>
            <a:pPr marL="285750" indent="-285750">
              <a:buFont typeface="Wingdings" panose="05000000000000000000" pitchFamily="2" charset="2"/>
              <a:buChar char="à"/>
            </a:pPr>
            <a:r>
              <a:rPr lang="en-US" sz="1800" b="1" dirty="0"/>
              <a:t>Around 62% of bookings were successfully completed, while a significant percentage of bookings were cancelled, impacting operational efficiency.</a:t>
            </a:r>
          </a:p>
          <a:p>
            <a:pPr marL="285750" indent="-285750">
              <a:buFont typeface="Wingdings" panose="05000000000000000000" pitchFamily="2" charset="2"/>
              <a:buChar char="à"/>
            </a:pPr>
            <a:r>
              <a:rPr lang="en-US" sz="1800" b="1" dirty="0"/>
              <a:t>A large portion of customer cancellations occurred due to drivers not moving toward pickup locations or asking customers to cancel rides.</a:t>
            </a:r>
          </a:p>
          <a:p>
            <a:pPr marL="285750" indent="-285750">
              <a:buFont typeface="Wingdings" panose="05000000000000000000" pitchFamily="2" charset="2"/>
              <a:buChar char="à"/>
            </a:pPr>
            <a:r>
              <a:rPr lang="en-US" sz="1800" b="1" dirty="0"/>
              <a:t>Auto services were mainly used for short-distance travel, while premium vehicle categories were preferred for longer-distance rides.</a:t>
            </a:r>
          </a:p>
          <a:p>
            <a:pPr marL="285750" indent="-285750">
              <a:buFont typeface="Wingdings" panose="05000000000000000000" pitchFamily="2" charset="2"/>
              <a:buChar char="à"/>
            </a:pPr>
            <a:r>
              <a:rPr lang="en-US" sz="1800" b="1" dirty="0"/>
              <a:t>Cash and UPI emerged as the dominant payment methods, whereas card-based payments showed comparatively lower usage.</a:t>
            </a:r>
          </a:p>
          <a:p>
            <a:pPr marL="285750" indent="-285750">
              <a:buFont typeface="Wingdings" panose="05000000000000000000" pitchFamily="2" charset="2"/>
              <a:buChar char="à"/>
            </a:pPr>
            <a:r>
              <a:rPr lang="en-US" sz="1800" b="1" dirty="0"/>
              <a:t>. Customer and driver ratings across all vehicle categories remained stable around 4.0, indicating relatively consistent service quality</a:t>
            </a:r>
          </a:p>
        </p:txBody>
      </p:sp>
    </p:spTree>
    <p:extLst>
      <p:ext uri="{BB962C8B-B14F-4D97-AF65-F5344CB8AC3E}">
        <p14:creationId xmlns:p14="http://schemas.microsoft.com/office/powerpoint/2010/main" val="4011609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19A9-F074-A065-27DE-72C7D4D4F377}"/>
              </a:ext>
            </a:extLst>
          </p:cNvPr>
          <p:cNvSpPr>
            <a:spLocks noGrp="1"/>
          </p:cNvSpPr>
          <p:nvPr>
            <p:ph type="title"/>
          </p:nvPr>
        </p:nvSpPr>
        <p:spPr>
          <a:xfrm>
            <a:off x="677333" y="-152915"/>
            <a:ext cx="10995262" cy="1278466"/>
          </a:xfrm>
        </p:spPr>
        <p:txBody>
          <a:bodyPr>
            <a:normAutofit/>
          </a:bodyPr>
          <a:lstStyle/>
          <a:p>
            <a:r>
              <a:rPr lang="en-US" sz="5400" b="1" dirty="0"/>
              <a:t>Business Recommendations</a:t>
            </a:r>
          </a:p>
        </p:txBody>
      </p:sp>
      <p:sp>
        <p:nvSpPr>
          <p:cNvPr id="4" name="Text Placeholder 3">
            <a:extLst>
              <a:ext uri="{FF2B5EF4-FFF2-40B4-BE49-F238E27FC236}">
                <a16:creationId xmlns:a16="http://schemas.microsoft.com/office/drawing/2014/main" id="{E831D6F0-52E2-4BBF-4E12-FD73453DED82}"/>
              </a:ext>
            </a:extLst>
          </p:cNvPr>
          <p:cNvSpPr>
            <a:spLocks noGrp="1"/>
          </p:cNvSpPr>
          <p:nvPr>
            <p:ph type="body" sz="half" idx="2"/>
          </p:nvPr>
        </p:nvSpPr>
        <p:spPr>
          <a:xfrm>
            <a:off x="425406" y="1212979"/>
            <a:ext cx="11396480" cy="5467740"/>
          </a:xfrm>
        </p:spPr>
        <p:txBody>
          <a:bodyPr>
            <a:noAutofit/>
          </a:bodyPr>
          <a:lstStyle/>
          <a:p>
            <a:pPr marL="285750" indent="-285750">
              <a:buFont typeface="Wingdings" panose="05000000000000000000" pitchFamily="2" charset="2"/>
              <a:buChar char="à"/>
            </a:pPr>
            <a:r>
              <a:rPr lang="en-US" sz="1800" b="1" dirty="0"/>
              <a:t>The company should closely monitor ride cancellations and identify drivers who frequently cancel bookings. Proper accountability measures and performance tracking can help reduce unnecessary cancellations. Additionally, providing rewards or incentives to drivers for successfully completing more rides can encourage better service and improve the overall booking success rate.</a:t>
            </a:r>
            <a:endParaRPr lang="en-US" sz="1800" b="1" dirty="0">
              <a:sym typeface="Wingdings" panose="05000000000000000000" pitchFamily="2" charset="2"/>
            </a:endParaRPr>
          </a:p>
          <a:p>
            <a:pPr marL="285750" indent="-285750">
              <a:buFont typeface="Wingdings" panose="05000000000000000000" pitchFamily="2" charset="2"/>
              <a:buChar char="à"/>
            </a:pPr>
            <a:r>
              <a:rPr lang="en-US" sz="1800" b="1" dirty="0">
                <a:sym typeface="Wingdings" panose="05000000000000000000" pitchFamily="2" charset="2"/>
              </a:rPr>
              <a:t> </a:t>
            </a:r>
            <a:r>
              <a:rPr lang="en-US" sz="1800" b="1" dirty="0"/>
              <a:t>Optimize nearest-driver matching and pickup management to reduce waiting time and improve ride fulfillment.</a:t>
            </a:r>
          </a:p>
          <a:p>
            <a:pPr marL="285750" indent="-285750">
              <a:buFont typeface="Wingdings" panose="05000000000000000000" pitchFamily="2" charset="2"/>
              <a:buChar char="à"/>
            </a:pPr>
            <a:r>
              <a:rPr lang="en-US" sz="1800" b="1" dirty="0"/>
              <a:t>The company should provide better support and proper training to drivers so they can handle rides more efficiently and professionally. Regular vehicle maintenance checks should also be conducted to reduce car-related problems during rides. These improvements can help minimize ride cancellations and provide a smoother experience for customers.</a:t>
            </a:r>
          </a:p>
          <a:p>
            <a:pPr marL="285750" indent="-285750">
              <a:buFont typeface="Wingdings" panose="05000000000000000000" pitchFamily="2" charset="2"/>
              <a:buChar char="à"/>
            </a:pPr>
            <a:r>
              <a:rPr lang="en-US" sz="1800" b="1" dirty="0"/>
              <a:t>Encourage UPI and card payments through cashback offers, discounts, and loyalty rewards to reduce cash dependency.</a:t>
            </a:r>
          </a:p>
          <a:p>
            <a:pPr marL="285750" indent="-285750">
              <a:buFont typeface="Wingdings" panose="05000000000000000000" pitchFamily="2" charset="2"/>
              <a:buChar char="à"/>
            </a:pPr>
            <a:r>
              <a:rPr lang="en-US" sz="1800" b="1" dirty="0"/>
              <a:t>Reduce ride delays and cancellation frequency to improve customer trust, retention, and repeat bookings.</a:t>
            </a:r>
          </a:p>
          <a:p>
            <a:pPr marL="285750" indent="-285750">
              <a:buFont typeface="Wingdings" panose="05000000000000000000" pitchFamily="2" charset="2"/>
              <a:buChar char="à"/>
            </a:pPr>
            <a:r>
              <a:rPr lang="en-US" sz="1800" b="1" dirty="0"/>
              <a:t>Continuously track booking trends, cancellation reasons, customer ratings, and payment behavior to support better business decision-making.</a:t>
            </a:r>
          </a:p>
          <a:p>
            <a:pPr marL="285750" indent="-285750">
              <a:buFont typeface="Wingdings" panose="05000000000000000000" pitchFamily="2" charset="2"/>
              <a:buChar char="à"/>
            </a:pPr>
            <a:endParaRPr lang="en-US" sz="1800" b="1" dirty="0"/>
          </a:p>
        </p:txBody>
      </p:sp>
    </p:spTree>
    <p:extLst>
      <p:ext uri="{BB962C8B-B14F-4D97-AF65-F5344CB8AC3E}">
        <p14:creationId xmlns:p14="http://schemas.microsoft.com/office/powerpoint/2010/main" val="22166731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13EA0-FE4B-C32A-BC55-D8B2BC43FFFC}"/>
              </a:ext>
            </a:extLst>
          </p:cNvPr>
          <p:cNvSpPr>
            <a:spLocks noGrp="1"/>
          </p:cNvSpPr>
          <p:nvPr>
            <p:ph type="title"/>
          </p:nvPr>
        </p:nvSpPr>
        <p:spPr>
          <a:xfrm>
            <a:off x="677333" y="1498604"/>
            <a:ext cx="11079237" cy="2401592"/>
          </a:xfrm>
        </p:spPr>
        <p:txBody>
          <a:bodyPr>
            <a:normAutofit/>
          </a:bodyPr>
          <a:lstStyle/>
          <a:p>
            <a:pPr algn="ctr"/>
            <a:r>
              <a:rPr lang="en-US" sz="9600" b="1" dirty="0"/>
              <a:t>Thank You</a:t>
            </a:r>
          </a:p>
        </p:txBody>
      </p:sp>
    </p:spTree>
    <p:extLst>
      <p:ext uri="{BB962C8B-B14F-4D97-AF65-F5344CB8AC3E}">
        <p14:creationId xmlns:p14="http://schemas.microsoft.com/office/powerpoint/2010/main" val="41491453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themeOverride>
</file>

<file path=docProps/app.xml><?xml version="1.0" encoding="utf-8"?>
<Properties xmlns="http://schemas.openxmlformats.org/officeDocument/2006/extended-properties" xmlns:vt="http://schemas.openxmlformats.org/officeDocument/2006/docPropsVTypes">
  <Template/>
  <TotalTime>681</TotalTime>
  <Words>1601</Words>
  <Application>Microsoft Office PowerPoint</Application>
  <PresentationFormat>Widescreen</PresentationFormat>
  <Paragraphs>169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Candara</vt:lpstr>
      <vt:lpstr>Trebuchet MS</vt:lpstr>
      <vt:lpstr>Wingdings</vt:lpstr>
      <vt:lpstr>Wingdings 3</vt:lpstr>
      <vt:lpstr>Facet</vt:lpstr>
      <vt:lpstr>Ola Ride Analytics</vt:lpstr>
      <vt:lpstr>Business Context: Bengaluru Market</vt:lpstr>
      <vt:lpstr>Stakeholders</vt:lpstr>
      <vt:lpstr>Technology Stack &amp; Purpose</vt:lpstr>
      <vt:lpstr>Data Dictionary (Key Feature)</vt:lpstr>
      <vt:lpstr>Data Quality Check</vt:lpstr>
      <vt:lpstr>Preparation Steps</vt:lpstr>
      <vt:lpstr>Data Model (Flat File Structure)</vt:lpstr>
      <vt:lpstr>Descriptive Analysis – Key KPIs</vt:lpstr>
      <vt:lpstr>PowerPoint Presentation</vt:lpstr>
      <vt:lpstr>Top 5 Revenue-Generating Customers</vt:lpstr>
      <vt:lpstr>Revenue Distribution by Payment Method</vt:lpstr>
      <vt:lpstr>Booking Status Breakdown</vt:lpstr>
      <vt:lpstr>PowerPoint Presentation</vt:lpstr>
      <vt:lpstr>PowerPoint Presentation</vt:lpstr>
      <vt:lpstr>Revenue Contribution by Vehicle Type</vt:lpstr>
      <vt:lpstr>Average Travel Distance</vt:lpstr>
      <vt:lpstr>Customer Satisfaction Across  Vehicle Types</vt:lpstr>
      <vt:lpstr>Driver Satisfaction Across  Vehicle Types</vt:lpstr>
      <vt:lpstr>Key Findings</vt:lpstr>
      <vt:lpstr>Business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sapna panwar</dc:creator>
  <cp:lastModifiedBy>sapna panwar</cp:lastModifiedBy>
  <cp:revision>17</cp:revision>
  <dcterms:created xsi:type="dcterms:W3CDTF">2026-05-20T05:15:29Z</dcterms:created>
  <dcterms:modified xsi:type="dcterms:W3CDTF">2026-07-28T05:18:04Z</dcterms:modified>
</cp:coreProperties>
</file>